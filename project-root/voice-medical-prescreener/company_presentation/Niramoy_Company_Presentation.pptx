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confidently. This is Niramoy — a voice-first pre-screening system I designed and built for Bangladeshi clinics. The one line: patients speak naturally before the visit, and the doctor gets structure. I own this system end to end; today I'll show what it does, the engineering decisions I made, and where it goes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 from the clinic's reality: volume, two-minute consults, and patients who can't self-structure a history — across Bangla, Banglish and dialects. Existing tools assume typing or English, which excludes exactly the people who need help most.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thesis of the product. Voice-first, hands-free, in the patient's own language. Typing is always available, but voice leads. Point at the real screen: the assistant asks, the mic is open, and the patient just talks.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built three portals for three real people, not one app pretending to serve everyone. Patient portal is voice-first. Medic verifies and triages. Doctor decides and prescribes. One backend, one database, one design system — the colours even signal the role: amber triage, indigo clinical.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Speech becomes an immutable raw transcript, then a separate cleaning and extraction stage produces ten structured fields, a follow-up loop fills gaps, risk and red-flags and an explanation are attached, and the doctor gets a report and writes to the EHR. The dark bar is the non-negotiable: raw words are never edited — that's stage one and it's permanent.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heart of the product and I want to be precise about it. The loop is genuinely hands-free on the happy path: the mic opens after the question, the patient speaks, a short silence triggers a visible three-two-one window, and if they resume speaking it cancels — a clipped answer would violate the raw-words rule, so the countdown is a confirmation, never a guillotine. Be honest: the final robustness — auto re-prompting on total silence, permission recovery — is the next hardening step I've scoped but not finished.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I'm not going to pretend Bangla speech is solved — it isn't, for anyone. Code-switching, dialects, medical vocabulary and clinic noise all fight you. That uncertainty is exactly why the architecture's first rule is that raw words are never altered: if the machine is unsure, the human still has the ground truth. On the right is a real case — the patient's own words, verbatim, in front of the doctor.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AI is a pipeline, not one magic call. Correct, extract, find gaps, ask follow-ups, summarise, assess. The key engineering decision is the single OpenAI-compatible client behind all of it — that seam is deliberate, because the faculty's next requirement is to drop in a local quantized model, and this design means that's a config change, not a rewrite. On the right is the real extracted 10-field profile the staff verify.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Safety is a design stance, not a feature I bolted on. Four decisions: never diagnose; make red-flags a rule that runs independently of the model so an emergency can't be missed; refuse to invent a numeric score; and attach a plain-language reason to every risk. The strip at the bottom is a real Critical case — the red-flag rule fired on chest pain and forced Critical, and the explanation says exactly why.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my favourite real-engineering story. It runs on free tiers by necessity, and free tiers are unreliable by nature. The fallback multiplies across providers, keys and models. And it isn't theoretical — it came out of a real outage the night before a demo, which taught me the failure mode and made me redesign it. No secrets on this slide, just the architecture.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Cut to the walkthrough video here. Keep narration light — let the real UI carry it. The story is one continuous journey: patient speaks, medic verifies against the raw words and adds vitals, doctor reads the safety panel and writes the prescription.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concrete and be honest — this is what earns trust. Fourteen of fifteen modules, around 1,196 passing tests, 18 tables, three real portals, real OTP, EHR export in three formats including correctly-shaped Bangla PDFs. And the amber box matters as much as the numbers: I have not measured formal WER, so I won't quote one. That honesty is deliberate.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pair every limit with where it goes. The headline of the roadmap is on-device: a local quantized speech model and a local summary model mean nothing leaves the machine — which turns the biggest privacy limitation into the biggest future strength, and it's exactly what the single swappable client was designed to allow.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ownership, in your own voice. Say plainly: I used AI assistance to build fast, and I made every decision that mattered — architecture, rules, debugging, testing. I can open any file and tell you what it does and why. Then the one line, and the forward look: on-device, offline, fully hands-free. Invite the deep-dive questions — you're ready for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795528"/>
            <a:ext cx="45720" cy="9144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644652" y="740664"/>
            <a:ext cx="45720" cy="20116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722376" y="777240"/>
            <a:ext cx="45720" cy="128016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5" name="Shape 3"/>
          <p:cNvSpPr/>
          <p:nvPr/>
        </p:nvSpPr>
        <p:spPr>
          <a:xfrm>
            <a:off x="800100" y="685800"/>
            <a:ext cx="45720" cy="31089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877824" y="612648"/>
            <a:ext cx="45720" cy="457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7" name="Shape 5"/>
          <p:cNvSpPr/>
          <p:nvPr/>
        </p:nvSpPr>
        <p:spPr>
          <a:xfrm>
            <a:off x="955548" y="713232"/>
            <a:ext cx="45720" cy="25603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8" name="Shape 6"/>
          <p:cNvSpPr/>
          <p:nvPr/>
        </p:nvSpPr>
        <p:spPr>
          <a:xfrm>
            <a:off x="1033272" y="640080"/>
            <a:ext cx="45720" cy="40233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9" name="Shape 7"/>
          <p:cNvSpPr/>
          <p:nvPr/>
        </p:nvSpPr>
        <p:spPr>
          <a:xfrm>
            <a:off x="1110996" y="566928"/>
            <a:ext cx="45720" cy="54864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10" name="Shape 8"/>
          <p:cNvSpPr/>
          <p:nvPr/>
        </p:nvSpPr>
        <p:spPr>
          <a:xfrm>
            <a:off x="1188720" y="704088"/>
            <a:ext cx="45720" cy="27432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11" name="Shape 9"/>
          <p:cNvSpPr/>
          <p:nvPr/>
        </p:nvSpPr>
        <p:spPr>
          <a:xfrm>
            <a:off x="1266444" y="758952"/>
            <a:ext cx="45720" cy="16459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12" name="Shape 10"/>
          <p:cNvSpPr/>
          <p:nvPr/>
        </p:nvSpPr>
        <p:spPr>
          <a:xfrm>
            <a:off x="1344168" y="658368"/>
            <a:ext cx="45720" cy="36576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13" name="Shape 11"/>
          <p:cNvSpPr/>
          <p:nvPr/>
        </p:nvSpPr>
        <p:spPr>
          <a:xfrm>
            <a:off x="1421892" y="786384"/>
            <a:ext cx="45720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1371600"/>
            <a:ext cx="4206240" cy="310896"/>
          </a:xfrm>
          <a:prstGeom prst="roundRect">
            <a:avLst>
              <a:gd name="adj" fmla="val 50000"/>
            </a:avLst>
          </a:prstGeom>
          <a:solidFill>
            <a:srgbClr val="0B2E2A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137160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VOICE-FIRST CLINICAL AI · BANGLADESH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178308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Niramoy</a:t>
            </a:r>
            <a:endParaRPr lang="en-US" sz="6600" dirty="0"/>
          </a:p>
        </p:txBody>
      </p:sp>
      <p:sp>
        <p:nvSpPr>
          <p:cNvPr id="17" name="Text 15"/>
          <p:cNvSpPr/>
          <p:nvPr/>
        </p:nvSpPr>
        <p:spPr>
          <a:xfrm>
            <a:off x="548640" y="288036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Voice-First Medical Pre-Screening for Bangla, Banglish &amp; Regional Speech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48640" y="388620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F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speak naturally, in their own language, before they see the doctor — and the doctor gets a clear, structured, safety-checked summary.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48640" y="52120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Designed, built &amp; engineered by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5596128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FC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engineering project · presented as a technical project overview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62572" y="1376172"/>
            <a:ext cx="4882896" cy="3082671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E5"/>
            </a:solidFill>
            <a:prstDash val="solid"/>
          </a:ln>
          <a:effectLst>
            <a:outerShdw sx="100000" sy="100000" kx="0" ky="0" algn="bl" rotWithShape="0" blurRad="139700" dist="63500" dir="5400000">
              <a:srgbClr val="0B2E2A">
                <a:alpha val="22000"/>
              </a:srgbClr>
            </a:outerShdw>
          </a:effectLst>
        </p:spPr>
      </p:sp>
      <p:pic>
        <p:nvPicPr>
          <p:cNvPr id="22" name="Image 0" descr="/tmp/vmp/deck_assets/voice_hero_b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417320"/>
            <a:ext cx="4800600" cy="3000375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903720" y="605332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F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patient portal — hands-free, in Bangla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problem in Bangladeshi clinics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658368" cy="6583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8745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4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🕒</a:t>
            </a:r>
            <a:endParaRPr lang="en-US" sz="1224" dirty="0"/>
          </a:p>
        </p:txBody>
      </p:sp>
      <p:sp>
        <p:nvSpPr>
          <p:cNvPr id="6" name="Text 4"/>
          <p:cNvSpPr/>
          <p:nvPr/>
        </p:nvSpPr>
        <p:spPr>
          <a:xfrm>
            <a:off x="1463040" y="1856232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3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Overloaded clinics, very short visits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463040" y="2258568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see huge patient volumes. History-taking gets compressed into a couple of minutes, so details are missed before the exam even starts.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3264408"/>
            <a:ext cx="658368" cy="6583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32644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4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</a:t>
            </a:r>
            <a:endParaRPr lang="en-US" sz="1224" dirty="0"/>
          </a:p>
        </p:txBody>
      </p:sp>
      <p:sp>
        <p:nvSpPr>
          <p:cNvPr id="10" name="Text 8"/>
          <p:cNvSpPr/>
          <p:nvPr/>
        </p:nvSpPr>
        <p:spPr>
          <a:xfrm>
            <a:off x="1463040" y="324612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3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can't give a structured history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463040" y="3648456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Elderly, low-literacy, and anxious patients struggle to organise symptoms, duration, and history the way a form expects.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4360" y="4654296"/>
            <a:ext cx="658368" cy="65836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465429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4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1224" dirty="0"/>
          </a:p>
        </p:txBody>
      </p:sp>
      <p:sp>
        <p:nvSpPr>
          <p:cNvPr id="14" name="Text 12"/>
          <p:cNvSpPr/>
          <p:nvPr/>
        </p:nvSpPr>
        <p:spPr>
          <a:xfrm>
            <a:off x="1463040" y="4636008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3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Bangla, Banglish &amp; regional dialects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463040" y="5038344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digital tools assume typing or English. Real patients mix Bangla and English and speak in regional dialects — so they get left out.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635240" y="1874520"/>
            <a:ext cx="4023360" cy="3566160"/>
          </a:xfrm>
          <a:prstGeom prst="roundRect">
            <a:avLst>
              <a:gd name="adj" fmla="val 3590"/>
            </a:avLst>
          </a:prstGeom>
          <a:solidFill>
            <a:srgbClr val="F0FBF8"/>
          </a:solidFill>
          <a:ln w="12700">
            <a:solidFill>
              <a:srgbClr val="DCE8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18120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7000" dirty="0"/>
          </a:p>
        </p:txBody>
      </p:sp>
      <p:sp>
        <p:nvSpPr>
          <p:cNvPr id="18" name="Text 16"/>
          <p:cNvSpPr/>
          <p:nvPr/>
        </p:nvSpPr>
        <p:spPr>
          <a:xfrm>
            <a:off x="7955280" y="2880360"/>
            <a:ext cx="3429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doctor even says hello, the clock is already running — and the most important information is what the patient can't quite put into words.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Niramoy · Voice-First Pre-Screening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47572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people just speak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806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143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Niramoy is voice-first and hands-free. The patient talks in their own language; the system listens, asks what's missing, and turns it into structure — before the doctor walks in.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94360" y="3063240"/>
            <a:ext cx="548640" cy="54864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1325880" y="301752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3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is the default — not an add-on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325880" y="339242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80" dirty="0">
                <a:solidFill>
                  <a:srgbClr val="5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mic opens itself and guides the patient. Speaking is the primary path.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594360" y="3995928"/>
            <a:ext cx="548640" cy="54864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39959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1325880" y="395020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3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is always one tap away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325880" y="432511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80" dirty="0">
                <a:solidFill>
                  <a:srgbClr val="5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noisy room, a failed mic, or a personal preference never blocks a patient.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594360" y="4928616"/>
            <a:ext cx="548640" cy="54864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49286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1325880" y="488289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3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how Bangladesh actually speaks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325880" y="52578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80" dirty="0">
                <a:solidFill>
                  <a:srgbClr val="5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Bangla, Banglish and regional dialects — spoken, not typed in English.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6816852" y="1330452"/>
            <a:ext cx="4974336" cy="3139821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E5"/>
            </a:solidFill>
            <a:prstDash val="solid"/>
          </a:ln>
          <a:effectLst>
            <a:outerShdw sx="100000" sy="100000" kx="0" ky="0" algn="bl" rotWithShape="0" blurRad="139700" dist="63500" dir="5400000">
              <a:srgbClr val="0B2E2A">
                <a:alpha val="22000"/>
              </a:srgbClr>
            </a:outerShdw>
          </a:effectLst>
        </p:spPr>
      </p:sp>
      <p:pic>
        <p:nvPicPr>
          <p:cNvPr id="18" name="Image 0" descr="/tmp/vmp/deck_assets/voice_hero_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371600"/>
            <a:ext cx="4892040" cy="3057525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858000" y="605332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the assistant asks, the patient speaks, it moves on by itself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Niramoy · Voice-First Pre-Screening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147572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BUILT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system, three roles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2763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FastAPI backend and database serve three role-specific web portals that share one design system.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611880" cy="3246120"/>
          </a:xfrm>
          <a:prstGeom prst="roundRect">
            <a:avLst>
              <a:gd name="adj" fmla="val 3662"/>
            </a:avLst>
          </a:prstGeom>
          <a:solidFill>
            <a:srgbClr val="F0FBF8"/>
          </a:solidFill>
          <a:ln w="15875">
            <a:solidFill>
              <a:srgbClr val="DCE8E5"/>
            </a:solidFill>
            <a:prstDash val="solid"/>
          </a:ln>
          <a:effectLst>
            <a:outerShdw sx="100000" sy="100000" kx="0" ky="0" algn="bl" rotWithShape="0" blurRad="101600" dist="38100" dir="5400000">
              <a:srgbClr val="7C9A94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651760"/>
            <a:ext cx="777240" cy="77724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6517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</a:t>
            </a:r>
            <a:endParaRPr lang="en-US" sz="1445" dirty="0"/>
          </a:p>
        </p:txBody>
      </p:sp>
      <p:sp>
        <p:nvSpPr>
          <p:cNvPr id="8" name="Shape 6"/>
          <p:cNvSpPr/>
          <p:nvPr/>
        </p:nvSpPr>
        <p:spPr>
          <a:xfrm>
            <a:off x="2560320" y="2798064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F0FBF8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0" y="2798064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36118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Voice Portal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" y="411480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Voice-first intake in Bangla / Banglish. Phone + OTP, spoken answers, on-screen text, typing fallback.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288536" y="2286000"/>
            <a:ext cx="3611880" cy="3246120"/>
          </a:xfrm>
          <a:prstGeom prst="roundRect">
            <a:avLst>
              <a:gd name="adj" fmla="val 3662"/>
            </a:avLst>
          </a:prstGeom>
          <a:solidFill>
            <a:srgbClr val="FFFFFF"/>
          </a:solidFill>
          <a:ln w="15875">
            <a:solidFill>
              <a:srgbClr val="DCE8E5"/>
            </a:solidFill>
            <a:prstDash val="solid"/>
          </a:ln>
          <a:effectLst>
            <a:outerShdw sx="100000" sy="100000" kx="0" ky="0" algn="bl" rotWithShape="0" blurRad="101600" dist="38100" dir="5400000">
              <a:srgbClr val="7C9A94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08576" y="2651760"/>
            <a:ext cx="777240" cy="777240"/>
          </a:xfrm>
          <a:prstGeom prst="ellipse">
            <a:avLst/>
          </a:prstGeom>
          <a:solidFill>
            <a:srgbClr val="C2740B"/>
          </a:solidFill>
          <a:ln/>
        </p:spPr>
      </p:sp>
      <p:sp>
        <p:nvSpPr>
          <p:cNvPr id="14" name="Text 12"/>
          <p:cNvSpPr/>
          <p:nvPr/>
        </p:nvSpPr>
        <p:spPr>
          <a:xfrm>
            <a:off x="4608576" y="26517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🩺</a:t>
            </a:r>
            <a:endParaRPr lang="en-US" sz="1445" dirty="0"/>
          </a:p>
        </p:txBody>
      </p:sp>
      <p:sp>
        <p:nvSpPr>
          <p:cNvPr id="15" name="Shape 13"/>
          <p:cNvSpPr/>
          <p:nvPr/>
        </p:nvSpPr>
        <p:spPr>
          <a:xfrm>
            <a:off x="6300216" y="2798064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F0FBF8"/>
          </a:solidFill>
          <a:ln/>
        </p:spPr>
      </p:sp>
      <p:sp>
        <p:nvSpPr>
          <p:cNvPr id="16" name="Text 14"/>
          <p:cNvSpPr/>
          <p:nvPr/>
        </p:nvSpPr>
        <p:spPr>
          <a:xfrm>
            <a:off x="6300216" y="2798064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C27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08576" y="36118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 Triage Desk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608576" y="411480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urgency-ordered queue. Verify the AI's extracted fields against the patient's own words; record vitals.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28432" y="2286000"/>
            <a:ext cx="3611880" cy="3246120"/>
          </a:xfrm>
          <a:prstGeom prst="roundRect">
            <a:avLst>
              <a:gd name="adj" fmla="val 3662"/>
            </a:avLst>
          </a:prstGeom>
          <a:solidFill>
            <a:srgbClr val="FFFFFF"/>
          </a:solidFill>
          <a:ln w="15875">
            <a:solidFill>
              <a:srgbClr val="DCE8E5"/>
            </a:solidFill>
            <a:prstDash val="solid"/>
          </a:ln>
          <a:effectLst>
            <a:outerShdw sx="100000" sy="100000" kx="0" ky="0" algn="bl" rotWithShape="0" blurRad="101600" dist="38100" dir="5400000">
              <a:srgbClr val="7C9A94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348472" y="2651760"/>
            <a:ext cx="777240" cy="77724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1" name="Text 19"/>
          <p:cNvSpPr/>
          <p:nvPr/>
        </p:nvSpPr>
        <p:spPr>
          <a:xfrm>
            <a:off x="8348472" y="26517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🧑‍⚕️</a:t>
            </a:r>
            <a:endParaRPr lang="en-US" sz="1445" dirty="0"/>
          </a:p>
        </p:txBody>
      </p:sp>
      <p:sp>
        <p:nvSpPr>
          <p:cNvPr id="22" name="Shape 20"/>
          <p:cNvSpPr/>
          <p:nvPr/>
        </p:nvSpPr>
        <p:spPr>
          <a:xfrm>
            <a:off x="10040112" y="2798064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F0FBF8"/>
          </a:solidFill>
          <a:ln/>
        </p:spPr>
      </p:sp>
      <p:sp>
        <p:nvSpPr>
          <p:cNvPr id="23" name="Text 21"/>
          <p:cNvSpPr/>
          <p:nvPr/>
        </p:nvSpPr>
        <p:spPr>
          <a:xfrm>
            <a:off x="10040112" y="2798064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348472" y="36118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Clinical Portal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348472" y="411480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Risk, red flags and the AI's reasoning first. Review, then write a prescription and an EHR record.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57150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served: a landing directory and a legacy transcript demo — same backend.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Niramoy · Voice-First Pre-Screening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47572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spoken words to a doctor-ready summary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627632" cy="1737360"/>
          </a:xfrm>
          <a:prstGeom prst="roundRect">
            <a:avLst>
              <a:gd name="adj" fmla="val 5618"/>
            </a:avLst>
          </a:prstGeom>
          <a:solidFill>
            <a:srgbClr val="F0FBF8"/>
          </a:solidFill>
          <a:ln w="15875">
            <a:solidFill>
              <a:srgbClr val="DCE8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2487168"/>
            <a:ext cx="621792" cy="621792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48716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6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</a:t>
            </a:r>
            <a:endParaRPr lang="en-US" sz="1156" dirty="0"/>
          </a:p>
        </p:txBody>
      </p:sp>
      <p:sp>
        <p:nvSpPr>
          <p:cNvPr id="7" name="Text 5"/>
          <p:cNvSpPr/>
          <p:nvPr/>
        </p:nvSpPr>
        <p:spPr>
          <a:xfrm>
            <a:off x="603504" y="3182112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3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speaks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03504" y="3584448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5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 / Banglish, hands-free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194560" y="3154680"/>
            <a:ext cx="228600" cy="0"/>
          </a:xfrm>
          <a:prstGeom prst="line">
            <a:avLst/>
          </a:prstGeom>
          <a:noFill/>
          <a:ln w="28575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441448" y="2286000"/>
            <a:ext cx="1627632" cy="1737360"/>
          </a:xfrm>
          <a:prstGeom prst="roundRect">
            <a:avLst>
              <a:gd name="adj" fmla="val 5618"/>
            </a:avLst>
          </a:prstGeom>
          <a:solidFill>
            <a:srgbClr val="FFF4F4"/>
          </a:solidFill>
          <a:ln w="15875">
            <a:solidFill>
              <a:srgbClr val="F3C9C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44368" y="2487168"/>
            <a:ext cx="621792" cy="62179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2944368" y="248716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6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156" dirty="0"/>
          </a:p>
        </p:txBody>
      </p:sp>
      <p:sp>
        <p:nvSpPr>
          <p:cNvPr id="13" name="Text 11"/>
          <p:cNvSpPr/>
          <p:nvPr/>
        </p:nvSpPr>
        <p:spPr>
          <a:xfrm>
            <a:off x="2496312" y="3182112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3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transcript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496312" y="3584448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5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unchanged — forever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087368" y="3154680"/>
            <a:ext cx="228600" cy="0"/>
          </a:xfrm>
          <a:prstGeom prst="line">
            <a:avLst/>
          </a:prstGeom>
          <a:noFill/>
          <a:ln w="28575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334256" y="2286000"/>
            <a:ext cx="1627632" cy="1737360"/>
          </a:xfrm>
          <a:prstGeom prst="roundRect">
            <a:avLst>
              <a:gd name="adj" fmla="val 5618"/>
            </a:avLst>
          </a:prstGeom>
          <a:solidFill>
            <a:srgbClr val="F0FBF8"/>
          </a:solidFill>
          <a:ln w="15875">
            <a:solidFill>
              <a:srgbClr val="DCE8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37176" y="2487168"/>
            <a:ext cx="621792" cy="621792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8" name="Text 16"/>
          <p:cNvSpPr/>
          <p:nvPr/>
        </p:nvSpPr>
        <p:spPr>
          <a:xfrm>
            <a:off x="4837176" y="248716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6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1156" dirty="0"/>
          </a:p>
        </p:txBody>
      </p:sp>
      <p:sp>
        <p:nvSpPr>
          <p:cNvPr id="19" name="Text 17"/>
          <p:cNvSpPr/>
          <p:nvPr/>
        </p:nvSpPr>
        <p:spPr>
          <a:xfrm>
            <a:off x="4389120" y="3182112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3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+ extract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389120" y="3584448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5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10 structured fields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980176" y="3154680"/>
            <a:ext cx="228600" cy="0"/>
          </a:xfrm>
          <a:prstGeom prst="line">
            <a:avLst/>
          </a:prstGeom>
          <a:noFill/>
          <a:ln w="28575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227064" y="2286000"/>
            <a:ext cx="1627632" cy="1737360"/>
          </a:xfrm>
          <a:prstGeom prst="roundRect">
            <a:avLst>
              <a:gd name="adj" fmla="val 5618"/>
            </a:avLst>
          </a:prstGeom>
          <a:solidFill>
            <a:srgbClr val="F0FBF8"/>
          </a:solidFill>
          <a:ln w="15875">
            <a:solidFill>
              <a:srgbClr val="DCE8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29984" y="2487168"/>
            <a:ext cx="621792" cy="621792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4" name="Text 22"/>
          <p:cNvSpPr/>
          <p:nvPr/>
        </p:nvSpPr>
        <p:spPr>
          <a:xfrm>
            <a:off x="6729984" y="248716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6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</a:t>
            </a:r>
            <a:endParaRPr lang="en-US" sz="1156" dirty="0"/>
          </a:p>
        </p:txBody>
      </p:sp>
      <p:sp>
        <p:nvSpPr>
          <p:cNvPr id="25" name="Text 23"/>
          <p:cNvSpPr/>
          <p:nvPr/>
        </p:nvSpPr>
        <p:spPr>
          <a:xfrm>
            <a:off x="6281928" y="3182112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3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loop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281928" y="3584448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5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only what's missing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872984" y="3154680"/>
            <a:ext cx="228600" cy="0"/>
          </a:xfrm>
          <a:prstGeom prst="line">
            <a:avLst/>
          </a:prstGeom>
          <a:noFill/>
          <a:ln w="28575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119872" y="2286000"/>
            <a:ext cx="1627632" cy="1737360"/>
          </a:xfrm>
          <a:prstGeom prst="roundRect">
            <a:avLst>
              <a:gd name="adj" fmla="val 5618"/>
            </a:avLst>
          </a:prstGeom>
          <a:solidFill>
            <a:srgbClr val="F0FBF8"/>
          </a:solidFill>
          <a:ln w="15875">
            <a:solidFill>
              <a:srgbClr val="DCE8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22792" y="2487168"/>
            <a:ext cx="621792" cy="621792"/>
          </a:xfrm>
          <a:prstGeom prst="ellipse">
            <a:avLst/>
          </a:prstGeom>
          <a:solidFill>
            <a:srgbClr val="C2740B"/>
          </a:solidFill>
          <a:ln/>
        </p:spPr>
      </p:sp>
      <p:sp>
        <p:nvSpPr>
          <p:cNvPr id="30" name="Text 28"/>
          <p:cNvSpPr/>
          <p:nvPr/>
        </p:nvSpPr>
        <p:spPr>
          <a:xfrm>
            <a:off x="8622792" y="248716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6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156" dirty="0"/>
          </a:p>
        </p:txBody>
      </p:sp>
      <p:sp>
        <p:nvSpPr>
          <p:cNvPr id="31" name="Text 29"/>
          <p:cNvSpPr/>
          <p:nvPr/>
        </p:nvSpPr>
        <p:spPr>
          <a:xfrm>
            <a:off x="8174736" y="3182112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3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+ red flags + XAI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174736" y="3584448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5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+ plain-language reason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9765792" y="3154680"/>
            <a:ext cx="228600" cy="0"/>
          </a:xfrm>
          <a:prstGeom prst="line">
            <a:avLst/>
          </a:prstGeom>
          <a:noFill/>
          <a:ln w="28575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10012680" y="2286000"/>
            <a:ext cx="1627632" cy="1737360"/>
          </a:xfrm>
          <a:prstGeom prst="roundRect">
            <a:avLst>
              <a:gd name="adj" fmla="val 5618"/>
            </a:avLst>
          </a:prstGeom>
          <a:solidFill>
            <a:srgbClr val="F0FBF8"/>
          </a:solidFill>
          <a:ln w="15875">
            <a:solidFill>
              <a:srgbClr val="DCE8E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515600" y="2487168"/>
            <a:ext cx="621792" cy="621792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6" name="Text 34"/>
          <p:cNvSpPr/>
          <p:nvPr/>
        </p:nvSpPr>
        <p:spPr>
          <a:xfrm>
            <a:off x="10515600" y="248716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6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1156" dirty="0"/>
          </a:p>
        </p:txBody>
      </p:sp>
      <p:sp>
        <p:nvSpPr>
          <p:cNvPr id="37" name="Text 35"/>
          <p:cNvSpPr/>
          <p:nvPr/>
        </p:nvSpPr>
        <p:spPr>
          <a:xfrm>
            <a:off x="10067544" y="3182112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3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→ doctor → EHR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10067544" y="3584448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5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review, prescribe, export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48640" y="4526280"/>
            <a:ext cx="11091672" cy="1234440"/>
          </a:xfrm>
          <a:prstGeom prst="roundRect">
            <a:avLst>
              <a:gd name="adj" fmla="val 8889"/>
            </a:avLst>
          </a:prstGeom>
          <a:solidFill>
            <a:srgbClr val="07241F"/>
          </a:solidFill>
          <a:ln/>
        </p:spPr>
      </p:sp>
      <p:sp>
        <p:nvSpPr>
          <p:cNvPr id="40" name="Text 38"/>
          <p:cNvSpPr/>
          <p:nvPr/>
        </p:nvSpPr>
        <p:spPr>
          <a:xfrm>
            <a:off x="868680" y="461772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the whole system is built on:  </a:t>
            </a:r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CF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patient's exact words are captured once and never changed. Cleaning, correction and AI interpretation all happen in separate, later stages — so the record of what was actually said is always preserved.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Niramoy · Voice-First Pre-Screening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147572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VOICE-FIRST INTERACTION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Hands-free by design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95528" y="2258568"/>
            <a:ext cx="0" cy="274320"/>
          </a:xfrm>
          <a:prstGeom prst="line">
            <a:avLst/>
          </a:prstGeom>
          <a:noFill/>
          <a:ln w="19050">
            <a:solidFill>
              <a:srgbClr val="DCE8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0432" y="1746504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3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assistant asks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170432" y="2075688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30" dirty="0">
                <a:solidFill>
                  <a:srgbClr val="5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is spoken aloud and shown on screen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566928" y="2569464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2569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95528" y="3044952"/>
            <a:ext cx="0" cy="274320"/>
          </a:xfrm>
          <a:prstGeom prst="line">
            <a:avLst/>
          </a:prstGeom>
          <a:noFill/>
          <a:ln w="19050">
            <a:solidFill>
              <a:srgbClr val="DCE8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0432" y="2532888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3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mic opens itself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170432" y="2862072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30" dirty="0">
                <a:solidFill>
                  <a:srgbClr val="5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audio ends — an echo guard keeps the AI's voice out of the transcript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566928" y="3355848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3355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95528" y="3831336"/>
            <a:ext cx="0" cy="274320"/>
          </a:xfrm>
          <a:prstGeom prst="line">
            <a:avLst/>
          </a:prstGeom>
          <a:noFill/>
          <a:ln w="19050">
            <a:solidFill>
              <a:srgbClr val="DCE8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0432" y="331927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3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patient just talks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170432" y="3648456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30" dirty="0">
                <a:solidFill>
                  <a:srgbClr val="5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button to hold; words appear live as they speak</a:t>
            </a:r>
            <a:endParaRPr lang="en-US" sz="1130" dirty="0"/>
          </a:p>
        </p:txBody>
      </p:sp>
      <p:sp>
        <p:nvSpPr>
          <p:cNvPr id="19" name="Shape 17"/>
          <p:cNvSpPr/>
          <p:nvPr/>
        </p:nvSpPr>
        <p:spPr>
          <a:xfrm>
            <a:off x="566928" y="4142232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95528" y="4617720"/>
            <a:ext cx="0" cy="274320"/>
          </a:xfrm>
          <a:prstGeom prst="line">
            <a:avLst/>
          </a:prstGeom>
          <a:noFill/>
          <a:ln w="19050">
            <a:solidFill>
              <a:srgbClr val="DCE8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70432" y="4105656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3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silence → 3·2·1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170432" y="443484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30" dirty="0">
                <a:solidFill>
                  <a:srgbClr val="5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visible confirmation window — speaking again cancels it</a:t>
            </a:r>
            <a:endParaRPr lang="en-US" sz="1130" dirty="0"/>
          </a:p>
        </p:txBody>
      </p:sp>
      <p:sp>
        <p:nvSpPr>
          <p:cNvPr id="24" name="Shape 22"/>
          <p:cNvSpPr/>
          <p:nvPr/>
        </p:nvSpPr>
        <p:spPr>
          <a:xfrm>
            <a:off x="566928" y="4928616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4928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70432" y="489204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3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is submitted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1170432" y="5221224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30" dirty="0">
                <a:solidFill>
                  <a:srgbClr val="5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question follows automatically</a:t>
            </a:r>
            <a:endParaRPr lang="en-US" sz="1130" dirty="0"/>
          </a:p>
        </p:txBody>
      </p:sp>
      <p:sp>
        <p:nvSpPr>
          <p:cNvPr id="28" name="Shape 26"/>
          <p:cNvSpPr/>
          <p:nvPr/>
        </p:nvSpPr>
        <p:spPr>
          <a:xfrm>
            <a:off x="566928" y="5797296"/>
            <a:ext cx="5806440" cy="457200"/>
          </a:xfrm>
          <a:prstGeom prst="roundRect">
            <a:avLst>
              <a:gd name="adj" fmla="val 20000"/>
            </a:avLst>
          </a:prstGeom>
          <a:solidFill>
            <a:srgbClr val="F0FBF8"/>
          </a:solidFill>
          <a:ln w="12700">
            <a:solidFill>
              <a:srgbClr val="DCE8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5797296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  Typing is always available — </a:t>
            </a:r>
            <a:pPr indent="0" marL="0">
              <a:buNone/>
            </a:pPr>
            <a:r>
              <a:rPr lang="en-US" sz="1150" dirty="0">
                <a:solidFill>
                  <a:srgbClr val="5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question, same pipeline, just a different input.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816852" y="1421892"/>
            <a:ext cx="4974336" cy="3139821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E5"/>
            </a:solidFill>
            <a:prstDash val="solid"/>
          </a:ln>
          <a:effectLst>
            <a:outerShdw sx="100000" sy="100000" kx="0" ky="0" algn="bl" rotWithShape="0" blurRad="139700" dist="63500" dir="5400000">
              <a:srgbClr val="0B2E2A">
                <a:alpha val="22000"/>
              </a:srgbClr>
            </a:outerShdw>
          </a:effectLst>
        </p:spPr>
      </p:sp>
      <p:pic>
        <p:nvPicPr>
          <p:cNvPr id="31" name="Image 0" descr="/tmp/vmp/deck_assets/voice_countd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463040"/>
            <a:ext cx="4892040" cy="3057525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6858000" y="614476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3·2·1 confirmation window — a safety pause, not a hard cut-off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Niramoy · Voice-First Pre-Screening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1147572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PART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Bangla voice is genuinely hard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94360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CE8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293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Code-switching (Banglish)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2231136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speech mixes Bangla and English mid-sentence — the case that breaks most recognisers.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770632"/>
            <a:ext cx="594360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CE8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871216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dialects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317296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Sylheti and Chittagonian differ sharply from standard Bangla.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712464"/>
            <a:ext cx="594360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CE8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81304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terms &amp; drug names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77240" y="4114800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Out-of-vocabulary words the model has rarely, if ever, heard.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654296"/>
            <a:ext cx="594360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CE8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75488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waiting rooms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77240" y="5056632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Bystanders, family, ambient clinic noise.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559612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this forces:  </a:t>
            </a:r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change the patient's exact words.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62572" y="1376172"/>
            <a:ext cx="4928616" cy="311124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E5"/>
            </a:solidFill>
            <a:prstDash val="solid"/>
          </a:ln>
          <a:effectLst>
            <a:outerShdw sx="100000" sy="100000" kx="0" ky="0" algn="bl" rotWithShape="0" blurRad="139700" dist="63500" dir="5400000">
              <a:srgbClr val="0B2E2A">
                <a:alpha val="22000"/>
              </a:srgbClr>
            </a:outerShdw>
          </a:effectLst>
        </p:spPr>
      </p:sp>
      <p:pic>
        <p:nvPicPr>
          <p:cNvPr id="18" name="Image 0" descr="/tmp/vmp/deck_assets/doctor_rawwor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417320"/>
            <a:ext cx="4846320" cy="302895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903720" y="60533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case · the patient's own Bangla words, stored verbatim and read by the doctor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Niramoy · Voice-First Pre-Screening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147572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/ LLM pipeline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143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task goes through one swappable, OpenAI-compatible client. That single seam is what lets a cloud model today become a local, on-device model tomorrow — with no pipeline rewrite.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7889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278892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3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the Bangla/Banglish text (separate field)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33649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3364992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3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symptoms, duration, severity, meds, history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394106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3941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3941064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3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gaps → generate targeted follow-ups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451713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4517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4517136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3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into 10 doctor-ready fields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" y="509320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5093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509320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3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risk tier + explanation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816852" y="1376172"/>
            <a:ext cx="4974336" cy="3402535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E5"/>
            </a:solidFill>
            <a:prstDash val="solid"/>
          </a:ln>
          <a:effectLst>
            <a:outerShdw sx="100000" sy="100000" kx="0" ky="0" algn="bl" rotWithShape="0" blurRad="139700" dist="63500" dir="5400000">
              <a:srgbClr val="0B2E2A">
                <a:alpha val="22000"/>
              </a:srgbClr>
            </a:outerShdw>
          </a:effectLst>
        </p:spPr>
      </p:sp>
      <p:pic>
        <p:nvPicPr>
          <p:cNvPr id="21" name="Image 0" descr="/tmp/vmp/deck_assets/fields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417320"/>
            <a:ext cx="4892040" cy="3320239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858000" y="4883863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output · free speech becomes 10 structured, staff-verifiable fields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Niramoy · Voice-First Pre-Screening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47572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INTEGRITY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assist — never to diagnose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" cy="54864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1280160" y="178308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3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never diagnoses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280160" y="214884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180" dirty="0">
                <a:solidFill>
                  <a:srgbClr val="5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narrows what's worth considering and surfaces information. The doctor decides — always.</a:t>
            </a:r>
            <a:endParaRPr lang="en-US" sz="118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548640" cy="5486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617220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6903720" y="178308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3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flags are a rule, not a guess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903720" y="214884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180" dirty="0">
                <a:solidFill>
                  <a:srgbClr val="5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Life-threatening words (e.g. chest pain) force a Critical tier through a rule that runs independently of the AI — so a bad model day can't hide an emergency.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548640" y="3364992"/>
            <a:ext cx="548640" cy="54864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1280160" y="331927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3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invented numeric score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280160" y="3685032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180" dirty="0">
                <a:solidFill>
                  <a:srgbClr val="5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is a tier with reasons, not a false-precision percentage nobody can justify.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6172200" y="3364992"/>
            <a:ext cx="548640" cy="54864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7" name="Text 15"/>
          <p:cNvSpPr/>
          <p:nvPr/>
        </p:nvSpPr>
        <p:spPr>
          <a:xfrm>
            <a:off x="61722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6903720" y="331927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3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risk carries its reasoning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903720" y="3685032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180" dirty="0">
                <a:solidFill>
                  <a:srgbClr val="5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plain-language explanation accompanies each assessment — auditable, not a black box.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1481328" y="4914900"/>
            <a:ext cx="9226296" cy="1351327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E5"/>
            </a:solidFill>
            <a:prstDash val="solid"/>
          </a:ln>
          <a:effectLst>
            <a:outerShdw sx="100000" sy="100000" kx="0" ky="0" algn="bl" rotWithShape="0" blurRad="139700" dist="63500" dir="5400000">
              <a:srgbClr val="0B2E2A">
                <a:alpha val="22000"/>
              </a:srgbClr>
            </a:outerShdw>
          </a:effectLst>
        </p:spPr>
      </p:sp>
      <p:pic>
        <p:nvPicPr>
          <p:cNvPr id="21" name="Image 0" descr="/tmp/vmp/deck_assets/risk_xa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476" y="4956048"/>
            <a:ext cx="9144000" cy="1269031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Niramoy · Voice-First Pre-Screening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147572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it alive on free infrastructure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43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Niramoy runs on free AI tiers — which hit daily limits, and whose models get retired without notice. So the one LLM client fails over automatically across three independent dimensions.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2468880" cy="1051560"/>
          </a:xfrm>
          <a:prstGeom prst="roundRect">
            <a:avLst>
              <a:gd name="adj" fmla="val 8696"/>
            </a:avLst>
          </a:prstGeom>
          <a:solidFill>
            <a:srgbClr val="F0FBF8"/>
          </a:solidFill>
          <a:ln w="15875">
            <a:solidFill>
              <a:srgbClr val="DCE8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8803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30098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/ Flash-Lite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63240" y="3223260"/>
            <a:ext cx="313944" cy="0"/>
          </a:xfrm>
          <a:prstGeom prst="line">
            <a:avLst/>
          </a:prstGeom>
          <a:noFill/>
          <a:ln w="28575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22904" y="2697480"/>
            <a:ext cx="2468880" cy="1051560"/>
          </a:xfrm>
          <a:prstGeom prst="roundRect">
            <a:avLst>
              <a:gd name="adj" fmla="val 8696"/>
            </a:avLst>
          </a:prstGeom>
          <a:solidFill>
            <a:srgbClr val="F0FBF8"/>
          </a:solidFill>
          <a:ln w="15875">
            <a:solidFill>
              <a:srgbClr val="DCE8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2904" y="28803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22904" y="330098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LPU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37504" y="3223260"/>
            <a:ext cx="313944" cy="0"/>
          </a:xfrm>
          <a:prstGeom prst="line">
            <a:avLst/>
          </a:prstGeom>
          <a:noFill/>
          <a:ln w="28575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297168" y="2697480"/>
            <a:ext cx="2468880" cy="1051560"/>
          </a:xfrm>
          <a:prstGeom prst="roundRect">
            <a:avLst>
              <a:gd name="adj" fmla="val 8696"/>
            </a:avLst>
          </a:prstGeom>
          <a:solidFill>
            <a:srgbClr val="F0FBF8"/>
          </a:solidFill>
          <a:ln w="15875">
            <a:solidFill>
              <a:srgbClr val="DCE8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97168" y="28803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Cerebras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97168" y="330098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daily volume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811768" y="3223260"/>
            <a:ext cx="313944" cy="0"/>
          </a:xfrm>
          <a:prstGeom prst="line">
            <a:avLst/>
          </a:prstGeom>
          <a:noFill/>
          <a:ln w="28575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171432" y="2697480"/>
            <a:ext cx="2468880" cy="1051560"/>
          </a:xfrm>
          <a:prstGeom prst="roundRect">
            <a:avLst>
              <a:gd name="adj" fmla="val 8696"/>
            </a:avLst>
          </a:prstGeom>
          <a:solidFill>
            <a:srgbClr val="F0FBF8"/>
          </a:solidFill>
          <a:ln w="15875">
            <a:solidFill>
              <a:srgbClr val="DCE8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71432" y="28803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71432" y="330098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fallback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977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 ×  keys  ×  models   —   each layer multiplies the fallbacks; a 429 cools down only that one path.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617720"/>
            <a:ext cx="11091672" cy="1234440"/>
          </a:xfrm>
          <a:prstGeom prst="roundRect">
            <a:avLst>
              <a:gd name="adj" fmla="val 8889"/>
            </a:avLst>
          </a:prstGeom>
          <a:solidFill>
            <a:srgbClr val="07241F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70916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 built this: 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F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night before a demo, my live chain went down — one model had been retired upstream, another was rate-limited. I re-architected the fallback into these three multiplying dimensions so a single dead provider can never again stop a patient mid-intake.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Niramoy · Voice-First Pre-Screening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47572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832104"/>
            <a:ext cx="45720" cy="9144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644652" y="777240"/>
            <a:ext cx="45720" cy="20116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722376" y="813816"/>
            <a:ext cx="45720" cy="128016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5" name="Shape 3"/>
          <p:cNvSpPr/>
          <p:nvPr/>
        </p:nvSpPr>
        <p:spPr>
          <a:xfrm>
            <a:off x="800100" y="722376"/>
            <a:ext cx="45720" cy="31089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877824" y="649224"/>
            <a:ext cx="45720" cy="457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7" name="Shape 5"/>
          <p:cNvSpPr/>
          <p:nvPr/>
        </p:nvSpPr>
        <p:spPr>
          <a:xfrm>
            <a:off x="955548" y="749808"/>
            <a:ext cx="45720" cy="25603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8" name="Shape 6"/>
          <p:cNvSpPr/>
          <p:nvPr/>
        </p:nvSpPr>
        <p:spPr>
          <a:xfrm>
            <a:off x="1033272" y="676656"/>
            <a:ext cx="45720" cy="40233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9" name="Shape 7"/>
          <p:cNvSpPr/>
          <p:nvPr/>
        </p:nvSpPr>
        <p:spPr>
          <a:xfrm>
            <a:off x="1110996" y="603504"/>
            <a:ext cx="45720" cy="54864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10" name="Shape 8"/>
          <p:cNvSpPr/>
          <p:nvPr/>
        </p:nvSpPr>
        <p:spPr>
          <a:xfrm>
            <a:off x="1188720" y="740664"/>
            <a:ext cx="45720" cy="27432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11" name="Shape 9"/>
          <p:cNvSpPr/>
          <p:nvPr/>
        </p:nvSpPr>
        <p:spPr>
          <a:xfrm>
            <a:off x="1266444" y="795528"/>
            <a:ext cx="45720" cy="16459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12" name="Shape 10"/>
          <p:cNvSpPr/>
          <p:nvPr/>
        </p:nvSpPr>
        <p:spPr>
          <a:xfrm>
            <a:off x="1344168" y="694944"/>
            <a:ext cx="45720" cy="36576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13" name="Shape 11"/>
          <p:cNvSpPr/>
          <p:nvPr/>
        </p:nvSpPr>
        <p:spPr>
          <a:xfrm>
            <a:off x="1421892" y="822960"/>
            <a:ext cx="45720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234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1554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in action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548640" y="24688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F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real run: the patient speaks hands-free → the medic verifies and triages → the doctor sees the safety story and prescribes.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07492" y="3570732"/>
            <a:ext cx="3694176" cy="2339721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E5"/>
            </a:solidFill>
            <a:prstDash val="solid"/>
          </a:ln>
          <a:effectLst>
            <a:outerShdw sx="100000" sy="100000" kx="0" ky="0" algn="bl" rotWithShape="0" blurRad="139700" dist="63500" dir="5400000">
              <a:srgbClr val="0B2E2A">
                <a:alpha val="22000"/>
              </a:srgbClr>
            </a:outerShdw>
          </a:effectLst>
        </p:spPr>
      </p:sp>
      <p:pic>
        <p:nvPicPr>
          <p:cNvPr id="18" name="Image 0" descr="/tmp/vmp/deck_assets/voice_hero_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11880"/>
            <a:ext cx="3611880" cy="2257425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48640" y="5979033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Patient speaks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247388" y="3570732"/>
            <a:ext cx="3694176" cy="2339721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E5"/>
            </a:solidFill>
            <a:prstDash val="solid"/>
          </a:ln>
          <a:effectLst>
            <a:outerShdw sx="100000" sy="100000" kx="0" ky="0" algn="bl" rotWithShape="0" blurRad="139700" dist="63500" dir="5400000">
              <a:srgbClr val="0B2E2A">
                <a:alpha val="22000"/>
              </a:srgbClr>
            </a:outerShdw>
          </a:effectLst>
        </p:spPr>
      </p:sp>
      <p:pic>
        <p:nvPicPr>
          <p:cNvPr id="21" name="Image 1" descr="/tmp/vmp/deck_assets/medic_c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536" y="3611880"/>
            <a:ext cx="3611880" cy="2257425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288536" y="5979033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Medic verifies &amp; triages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7987284" y="3570732"/>
            <a:ext cx="3694176" cy="2339721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E5"/>
            </a:solidFill>
            <a:prstDash val="solid"/>
          </a:ln>
          <a:effectLst>
            <a:outerShdw sx="100000" sy="100000" kx="0" ky="0" algn="bl" rotWithShape="0" blurRad="139700" dist="63500" dir="5400000">
              <a:srgbClr val="0B2E2A">
                <a:alpha val="22000"/>
              </a:srgbClr>
            </a:outerShdw>
          </a:effectLst>
        </p:spPr>
      </p:sp>
      <p:pic>
        <p:nvPicPr>
          <p:cNvPr id="24" name="Image 2" descr="/tmp/vmp/deck_assets/doctor_rawword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8432" y="3611880"/>
            <a:ext cx="3611880" cy="2257425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028432" y="5979033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Doctor decides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Niramoy · Voice-First Pre-Screening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1147572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F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works today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F0FBF8"/>
          </a:solidFill>
          <a:ln w="12700">
            <a:solidFill>
              <a:srgbClr val="DCE8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75104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272491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built (of 15)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46704" y="182880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F0FBF8"/>
          </a:solidFill>
          <a:ln w="12700">
            <a:solidFill>
              <a:srgbClr val="DCE8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46704" y="1975104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~1,196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438144" y="272491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passing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44768" y="182880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F0FBF8"/>
          </a:solidFill>
          <a:ln w="12700">
            <a:solidFill>
              <a:srgbClr val="DCE8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44768" y="1975104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236208" y="272491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 · 14 migrations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42832" y="182880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F0FBF8"/>
          </a:solidFill>
          <a:ln w="12700">
            <a:solidFill>
              <a:srgbClr val="DCE8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42832" y="1975104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9034272" y="272491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role portals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35204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43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locally with one command · real OTP (hashed, expiring) · EHR export as DOCX, PDF (with correct Bangla shaping) and an HL7 FHIR bundle · all on synthetic / consented data.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343400"/>
            <a:ext cx="11091672" cy="1508760"/>
          </a:xfrm>
          <a:prstGeom prst="roundRect">
            <a:avLst>
              <a:gd name="adj" fmla="val 7273"/>
            </a:avLst>
          </a:prstGeom>
          <a:solidFill>
            <a:srgbClr val="FFF9F0"/>
          </a:solidFill>
          <a:ln w="15875">
            <a:solidFill>
              <a:srgbClr val="F0DC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480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27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about what's not proven yet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2960" y="48463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43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accuracy (word-error-rate) has not been measured yet — a live real-mic run passed and STT felt accurate, but I won't claim a number I haven't recorded.  </a:t>
            </a:r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43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speech-to-text is browser-based (cloud), and staff login is still stubbed.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Niramoy · Voice-First Pre-Screening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47572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&amp; ROADMAP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40680" cy="3977640"/>
          </a:xfrm>
          <a:prstGeom prst="roundRect">
            <a:avLst>
              <a:gd name="adj" fmla="val 2759"/>
            </a:avLst>
          </a:prstGeom>
          <a:solidFill>
            <a:srgbClr val="FFF6F5"/>
          </a:solidFill>
          <a:ln w="15875">
            <a:solidFill>
              <a:srgbClr val="F1D4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659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limits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4892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1100"/>
              </a:spcAft>
              <a:buSzPct val="100000"/>
              <a:buChar char="•"/>
            </a:pPr>
            <a:r>
              <a:rPr lang="en-US" sz="1280" dirty="0">
                <a:solidFill>
                  <a:srgbClr val="143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STT sends audio to Google's servers</a:t>
            </a:r>
            <a:endParaRPr lang="en-US" sz="1280" dirty="0"/>
          </a:p>
          <a:p>
            <a:pPr marL="342900" indent="-342900">
              <a:lnSpc>
                <a:spcPct val="110000"/>
              </a:lnSpc>
              <a:spcAft>
                <a:spcPts val="1100"/>
              </a:spcAft>
              <a:buSzPct val="100000"/>
              <a:buChar char="•"/>
            </a:pPr>
            <a:r>
              <a:rPr lang="en-US" sz="1280" dirty="0">
                <a:solidFill>
                  <a:srgbClr val="143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 LLMs may train on inputs → synthetic / consented data only</a:t>
            </a:r>
            <a:endParaRPr lang="en-US" sz="1280" dirty="0"/>
          </a:p>
          <a:p>
            <a:pPr marL="342900" indent="-342900">
              <a:lnSpc>
                <a:spcPct val="110000"/>
              </a:lnSpc>
              <a:spcAft>
                <a:spcPts val="1100"/>
              </a:spcAft>
              <a:buSzPct val="100000"/>
              <a:buChar char="•"/>
            </a:pPr>
            <a:r>
              <a:rPr lang="en-US" sz="1280" dirty="0">
                <a:solidFill>
                  <a:srgbClr val="143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authentication is stubbed</a:t>
            </a:r>
            <a:endParaRPr lang="en-US" sz="1280" dirty="0"/>
          </a:p>
          <a:p>
            <a:pPr marL="342900" indent="-342900">
              <a:lnSpc>
                <a:spcPct val="110000"/>
              </a:lnSpc>
              <a:spcAft>
                <a:spcPts val="1100"/>
              </a:spcAft>
              <a:buSzPct val="100000"/>
              <a:buChar char="•"/>
            </a:pPr>
            <a:r>
              <a:rPr lang="en-US" sz="1280" dirty="0">
                <a:solidFill>
                  <a:srgbClr val="143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single-node; no formal WER yet</a:t>
            </a:r>
            <a:endParaRPr lang="en-US" sz="1280" dirty="0"/>
          </a:p>
          <a:p>
            <a:pPr marL="342900" indent="-342900">
              <a:lnSpc>
                <a:spcPct val="110000"/>
              </a:lnSpc>
              <a:spcAft>
                <a:spcPts val="1100"/>
              </a:spcAft>
              <a:buSzPct val="100000"/>
              <a:buChar char="•"/>
            </a:pPr>
            <a:r>
              <a:rPr lang="en-US" sz="1280" dirty="0">
                <a:solidFill>
                  <a:srgbClr val="143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Fully-automatic endpointing not finished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6199632" y="1828800"/>
            <a:ext cx="5440680" cy="3977640"/>
          </a:xfrm>
          <a:prstGeom prst="roundRect">
            <a:avLst>
              <a:gd name="adj" fmla="val 2759"/>
            </a:avLst>
          </a:prstGeom>
          <a:solidFill>
            <a:srgbClr val="F0FBF8"/>
          </a:solidFill>
          <a:ln w="15875">
            <a:solidFill>
              <a:srgbClr val="DCE8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3952" y="19659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goes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19672" y="2377440"/>
            <a:ext cx="4892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1100"/>
              </a:spcAft>
              <a:buSzPct val="100000"/>
              <a:buChar char="•"/>
            </a:pPr>
            <a:r>
              <a:rPr lang="en-US" sz="1280" dirty="0">
                <a:solidFill>
                  <a:srgbClr val="143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quantized speech model → fully offline &amp; private</a:t>
            </a:r>
            <a:endParaRPr lang="en-US" sz="1280" dirty="0"/>
          </a:p>
          <a:p>
            <a:pPr marL="342900" indent="-342900">
              <a:lnSpc>
                <a:spcPct val="110000"/>
              </a:lnSpc>
              <a:spcAft>
                <a:spcPts val="1100"/>
              </a:spcAft>
              <a:buSzPct val="100000"/>
              <a:buChar char="•"/>
            </a:pPr>
            <a:r>
              <a:rPr lang="en-US" sz="1280" dirty="0">
                <a:solidFill>
                  <a:srgbClr val="143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quantized summary model (Moshi) → no patient data leaves the machine</a:t>
            </a:r>
            <a:endParaRPr lang="en-US" sz="1280" dirty="0"/>
          </a:p>
          <a:p>
            <a:pPr marL="342900" indent="-342900">
              <a:lnSpc>
                <a:spcPct val="110000"/>
              </a:lnSpc>
              <a:spcAft>
                <a:spcPts val="1100"/>
              </a:spcAft>
              <a:buSzPct val="100000"/>
              <a:buChar char="•"/>
            </a:pPr>
            <a:r>
              <a:rPr lang="en-US" sz="1280" dirty="0">
                <a:solidFill>
                  <a:srgbClr val="143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the fully hands-free voice loop</a:t>
            </a:r>
            <a:endParaRPr lang="en-US" sz="1280" dirty="0"/>
          </a:p>
          <a:p>
            <a:pPr marL="342900" indent="-342900">
              <a:lnSpc>
                <a:spcPct val="110000"/>
              </a:lnSpc>
              <a:spcAft>
                <a:spcPts val="1100"/>
              </a:spcAft>
              <a:buSzPct val="100000"/>
              <a:buChar char="•"/>
            </a:pPr>
            <a:r>
              <a:rPr lang="en-US" sz="1280" dirty="0">
                <a:solidFill>
                  <a:srgbClr val="143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auth, Postgres, encryption at rest</a:t>
            </a:r>
            <a:endParaRPr lang="en-US" sz="1280" dirty="0"/>
          </a:p>
          <a:p>
            <a:pPr marL="342900" indent="-342900">
              <a:lnSpc>
                <a:spcPct val="110000"/>
              </a:lnSpc>
              <a:spcAft>
                <a:spcPts val="1100"/>
              </a:spcAft>
              <a:buSzPct val="100000"/>
              <a:buChar char="•"/>
            </a:pPr>
            <a:r>
              <a:rPr lang="en-US" sz="1280" dirty="0">
                <a:solidFill>
                  <a:srgbClr val="143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WER + precision/recall evaluation</a:t>
            </a:r>
            <a:endParaRPr lang="en-US" sz="1280" dirty="0"/>
          </a:p>
        </p:txBody>
      </p:sp>
      <p:sp>
        <p:nvSpPr>
          <p:cNvPr id="10" name="Text 8"/>
          <p:cNvSpPr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Niramoy · Voice-First Pre-Screening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47572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832104"/>
            <a:ext cx="45720" cy="9144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644652" y="777240"/>
            <a:ext cx="45720" cy="20116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722376" y="813816"/>
            <a:ext cx="45720" cy="128016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5" name="Shape 3"/>
          <p:cNvSpPr/>
          <p:nvPr/>
        </p:nvSpPr>
        <p:spPr>
          <a:xfrm>
            <a:off x="800100" y="722376"/>
            <a:ext cx="45720" cy="31089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877824" y="649224"/>
            <a:ext cx="45720" cy="457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7" name="Shape 5"/>
          <p:cNvSpPr/>
          <p:nvPr/>
        </p:nvSpPr>
        <p:spPr>
          <a:xfrm>
            <a:off x="955548" y="749808"/>
            <a:ext cx="45720" cy="25603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8" name="Shape 6"/>
          <p:cNvSpPr/>
          <p:nvPr/>
        </p:nvSpPr>
        <p:spPr>
          <a:xfrm>
            <a:off x="1033272" y="676656"/>
            <a:ext cx="45720" cy="40233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9" name="Shape 7"/>
          <p:cNvSpPr/>
          <p:nvPr/>
        </p:nvSpPr>
        <p:spPr>
          <a:xfrm>
            <a:off x="1110996" y="603504"/>
            <a:ext cx="45720" cy="54864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10" name="Shape 8"/>
          <p:cNvSpPr/>
          <p:nvPr/>
        </p:nvSpPr>
        <p:spPr>
          <a:xfrm>
            <a:off x="1188720" y="740664"/>
            <a:ext cx="45720" cy="27432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11" name="Shape 9"/>
          <p:cNvSpPr/>
          <p:nvPr/>
        </p:nvSpPr>
        <p:spPr>
          <a:xfrm>
            <a:off x="1266444" y="795528"/>
            <a:ext cx="45720" cy="16459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12" name="Shape 10"/>
          <p:cNvSpPr/>
          <p:nvPr/>
        </p:nvSpPr>
        <p:spPr>
          <a:xfrm>
            <a:off x="1344168" y="694944"/>
            <a:ext cx="45720" cy="36576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13" name="Shape 11"/>
          <p:cNvSpPr/>
          <p:nvPr/>
        </p:nvSpPr>
        <p:spPr>
          <a:xfrm>
            <a:off x="1421892" y="822960"/>
            <a:ext cx="45720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BUILT IT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1600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directed the build — and I own the system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48640" y="2514600"/>
            <a:ext cx="6858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used AI coding assistance to move fast — and I made every decision that mattered.</a:t>
            </a:r>
            <a:endParaRPr lang="en-US" sz="13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350" dirty="0">
                <a:solidFill>
                  <a:srgbClr val="CF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 the architecture, the stack, and the non-negotiable rules (raw words immutable; never diagnose).</a:t>
            </a:r>
            <a:endParaRPr lang="en-US" sz="13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350" dirty="0">
                <a:solidFill>
                  <a:srgbClr val="CF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Debugged real defects myself — a CSS hit-target bug found only with real mouse events; a UTC-vs-Dhaka date bug.</a:t>
            </a:r>
            <a:endParaRPr lang="en-US" sz="13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350" dirty="0">
                <a:solidFill>
                  <a:srgbClr val="CF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~69 written decision records and a ~1,196-test suite; ran the live real-mic tests myself.</a:t>
            </a:r>
            <a:endParaRPr lang="en-US" sz="13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know where every part lives, what it does, and why it's there.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726680" y="2514600"/>
            <a:ext cx="3931920" cy="3063240"/>
          </a:xfrm>
          <a:prstGeom prst="roundRect">
            <a:avLst>
              <a:gd name="adj" fmla="val 4179"/>
            </a:avLst>
          </a:prstGeom>
          <a:solidFill>
            <a:srgbClr val="0B2E2A"/>
          </a:solidFill>
          <a:ln w="15875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01000" y="2697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line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01000" y="3108960"/>
            <a:ext cx="3429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Niramoy meets patients in their own language — by voice, hands-free — and hands the doctor structure, safely.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001000" y="489204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F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on-device, offline, fully hands-free.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F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happy to go deep on any part.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7572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F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Niramoy — Voice-First Medical Pre-Screening</dc:title>
  <dc:subject>PptxGenJS Presentation</dc:subject>
  <dc:creator>Niramoy</dc:creator>
  <cp:lastModifiedBy>Niramoy</cp:lastModifiedBy>
  <cp:revision>1</cp:revision>
  <dcterms:created xsi:type="dcterms:W3CDTF">2026-08-21T09:02:31Z</dcterms:created>
  <dcterms:modified xsi:type="dcterms:W3CDTF">2026-08-21T09:02:31Z</dcterms:modified>
</cp:coreProperties>
</file>