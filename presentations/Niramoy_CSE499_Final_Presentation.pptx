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463040"/>
            <a:ext cx="3840480" cy="3840480"/>
          </a:xfrm>
          <a:prstGeom prst="ellipse">
            <a:avLst/>
          </a:prstGeom>
          <a:solidFill>
            <a:srgbClr val="12306E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5120640"/>
            <a:ext cx="2743200" cy="2743200"/>
          </a:xfrm>
          <a:prstGeom prst="ellipse">
            <a:avLst/>
          </a:prstGeom>
          <a:solidFill>
            <a:srgbClr val="0F3A2E"/>
          </a:solidFill>
          <a:ln/>
        </p:spPr>
      </p:sp>
      <p:pic>
        <p:nvPicPr>
          <p:cNvPr id="4" name="Image 0" descr="/home/claude/niramoy/img/ns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576072" cy="6995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411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SOUTH UNIVERSITY   ·   DEPT. OF ELECTRICAL &amp; COMPUTER ENGINEERING   ·   CSE499 CAPSTONE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02920" y="1234440"/>
            <a:ext cx="6720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Voice-Based AI Framework for Medical Pre-Screening of Bangla &amp; Regional Bangladeshi Speech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21208" y="27889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“Niramoy”</a:t>
            </a:r>
            <a:pPr algn="l" indent="0" marL="0">
              <a:buNone/>
            </a:pPr>
            <a:r>
              <a:rPr lang="en-US" sz="14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intelligent symptom capture · risk assessment · clinical documentation · EHR integration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21208" y="3401568"/>
            <a:ext cx="6629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patient speaks their symptoms in Bangla / Banglish / dialect before the visit; the system turns that speech into a structured, risk-scored, explainable pre-screening report.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7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</a:t>
            </a:r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Consultations are short; elderly &amp; low-literacy patients struggle with typing-first, English-first tools, and key details get missed.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7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it’s for:</a:t>
            </a:r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Patients, triage medics and doctors — one shared record across three portals.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7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value:</a:t>
            </a:r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doctor walks in already knowing the story. It assists — it never diagnoses.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584948" y="1321308"/>
            <a:ext cx="4169664" cy="2035904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4B">
                <a:alpha val="16000"/>
              </a:srgbClr>
            </a:outerShdw>
          </a:effectLst>
        </p:spPr>
      </p:sp>
      <p:pic>
        <p:nvPicPr>
          <p:cNvPr id="10" name="Image 1" descr="/home/claude/niramoy/img/patient_convers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371600"/>
            <a:ext cx="4069080" cy="1935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5240" y="334349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 — live voice conversation in Bangla.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635240" y="3822192"/>
            <a:ext cx="1847088" cy="384048"/>
          </a:xfrm>
          <a:prstGeom prst="roundRect">
            <a:avLst>
              <a:gd name="adj" fmla="val 47619"/>
            </a:avLst>
          </a:prstGeom>
          <a:solidFill>
            <a:srgbClr val="16346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35240" y="382219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portals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601200" y="3822192"/>
            <a:ext cx="1874520" cy="384048"/>
          </a:xfrm>
          <a:prstGeom prst="roundRect">
            <a:avLst>
              <a:gd name="adj" fmla="val 47619"/>
            </a:avLst>
          </a:prstGeom>
          <a:solidFill>
            <a:srgbClr val="16346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0" y="382219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15-module pipeline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635240" y="4315968"/>
            <a:ext cx="1847088" cy="384048"/>
          </a:xfrm>
          <a:prstGeom prst="roundRect">
            <a:avLst>
              <a:gd name="adj" fmla="val 47619"/>
            </a:avLst>
          </a:prstGeom>
          <a:solidFill>
            <a:srgbClr val="0E5A46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635240" y="431596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16-model ASR study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9601200" y="4315968"/>
            <a:ext cx="1874520" cy="384048"/>
          </a:xfrm>
          <a:prstGeom prst="roundRect">
            <a:avLst>
              <a:gd name="adj" fmla="val 47619"/>
            </a:avLst>
          </a:prstGeom>
          <a:solidFill>
            <a:srgbClr val="0E5A46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601200" y="43159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+ PDF export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02920" y="63093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Rafiur Rahman Mashrafi (2221971042)   ·   M. G. Rabbi Hossen (2222516042)   ·   Israt Zaman Srity (2211084042)</a:t>
            </a:r>
            <a:pPr algn="l" indent="0" marL="0">
              <a:buNone/>
            </a:pPr>
            <a:r>
              <a:rPr lang="en-US" sz="1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Advisor: Dr. Mohammad Ashrafuzzaman Khan (AzK), Associate Professor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the Design — why it works this way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2688" y="1271016"/>
            <a:ext cx="603504" cy="603504"/>
          </a:xfrm>
          <a:prstGeom prst="ellipse">
            <a:avLst/>
          </a:prstGeom>
          <a:solidFill>
            <a:srgbClr val="0FA47F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32688" y="12710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19568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536192" y="1243584"/>
            <a:ext cx="134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880360" y="1271016"/>
            <a:ext cx="603504" cy="603504"/>
          </a:xfrm>
          <a:prstGeom prst="ellipse">
            <a:avLst/>
          </a:prstGeom>
          <a:solidFill>
            <a:srgbClr val="1794C6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80360" y="12710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267712" y="19568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83864" y="1243584"/>
            <a:ext cx="134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828032" y="1271016"/>
            <a:ext cx="603504" cy="603504"/>
          </a:xfrm>
          <a:prstGeom prst="ellipse">
            <a:avLst/>
          </a:prstGeom>
          <a:solidFill>
            <a:srgbClr val="0FA47F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12710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15384" y="19568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31536" y="1243584"/>
            <a:ext cx="134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775704" y="1271016"/>
            <a:ext cx="603504" cy="603504"/>
          </a:xfrm>
          <a:prstGeom prst="ellipse">
            <a:avLst/>
          </a:prstGeom>
          <a:solidFill>
            <a:srgbClr val="1794C6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75704" y="12710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163056" y="19568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79208" y="1243584"/>
            <a:ext cx="134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723376" y="1271016"/>
            <a:ext cx="603504" cy="603504"/>
          </a:xfrm>
          <a:prstGeom prst="ellipse">
            <a:avLst/>
          </a:prstGeom>
          <a:solidFill>
            <a:srgbClr val="0FA47F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23376" y="12710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10728" y="19568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26880" y="1243584"/>
            <a:ext cx="134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10671048" y="1271016"/>
            <a:ext cx="603504" cy="603504"/>
          </a:xfrm>
          <a:prstGeom prst="ellipse">
            <a:avLst/>
          </a:prstGeom>
          <a:solidFill>
            <a:srgbClr val="1794C6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671048" y="12710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058400" y="19568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239572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patient’s exact words are preserved end-to-end; the doctor makes every clinical decision.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2889504"/>
            <a:ext cx="553212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04088" y="3090672"/>
            <a:ext cx="457200" cy="457200"/>
          </a:xfrm>
          <a:prstGeom prst="ellipse">
            <a:avLst/>
          </a:prstGeom>
          <a:solidFill>
            <a:srgbClr val="0B7D60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04088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80160" y="3108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that shaped it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80160" y="361188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best open-source Bangla ASR mishears ~47% of words on real dialect speech — a single-pass transcript can’t be trusted clinically.</a:t>
            </a:r>
            <a:endParaRPr lang="en-US" sz="13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system is a stateful, conversational pre-screener that verifies and fills gaps, preserves the raw words, and keeps a human in the loop — instead of trusting one transcript.</a:t>
            </a:r>
            <a:endParaRPr lang="en-US" sz="1300" dirty="0"/>
          </a:p>
          <a:p>
            <a:pPr algn="l" indent="0" marL="0">
              <a:buNone/>
            </a:pPr>
            <a:r>
              <a:rPr lang="en-US" sz="1200" b="1" i="1" dirty="0">
                <a:solidFill>
                  <a:srgbClr val="0B7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record (the visit); a local safety rule overrides the AI; AI providers are swappable by config.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45352" y="2889504"/>
            <a:ext cx="544068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37960" y="307238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rules the system always obeys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83680" y="3584448"/>
            <a:ext cx="402336" cy="402336"/>
          </a:xfrm>
          <a:prstGeom prst="ellipse">
            <a:avLst/>
          </a:prstGeom>
          <a:solidFill>
            <a:srgbClr val="1C53A8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583680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14032" y="3538728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edit the patient’s raw words — stored once, untouched.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583680" y="4279392"/>
            <a:ext cx="402336" cy="402336"/>
          </a:xfrm>
          <a:prstGeom prst="ellipse">
            <a:avLst/>
          </a:prstGeom>
          <a:solidFill>
            <a:srgbClr val="1C53A8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583680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14032" y="4233672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diagnose — assist only; the doctor decides.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583680" y="4974336"/>
            <a:ext cx="402336" cy="402336"/>
          </a:xfrm>
          <a:prstGeom prst="ellipse">
            <a:avLst/>
          </a:prstGeom>
          <a:solidFill>
            <a:srgbClr val="1C53A8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583680" y="4974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14032" y="4928616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red flags — a local rule forces “Critical”; AI failure defaults to Medium, never Low.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583680" y="5669280"/>
            <a:ext cx="402336" cy="402336"/>
          </a:xfrm>
          <a:prstGeom prst="ellipse">
            <a:avLst/>
          </a:prstGeom>
          <a:solidFill>
            <a:srgbClr val="B7791F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583680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114032" y="5623560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/ consented data only.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· Manufacturability · Sustainability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474720" cy="4370832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04088" y="1426464"/>
            <a:ext cx="548640" cy="548640"/>
          </a:xfrm>
          <a:prstGeom prst="ellipse">
            <a:avLst/>
          </a:prstGeom>
          <a:solidFill>
            <a:srgbClr val="0FA47F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426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 actually use 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8952" y="2286000"/>
            <a:ext cx="2999232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— the patient just talks</a:t>
            </a:r>
            <a:endParaRPr lang="en-US" sz="1250" dirty="0"/>
          </a:p>
          <a:p>
            <a:pPr algn="l"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English / বাংলা; questions spoken + shown</a:t>
            </a:r>
            <a:endParaRPr lang="en-US" sz="1250" dirty="0"/>
          </a:p>
          <a:p>
            <a:pPr algn="l"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read back to catch mistakes</a:t>
            </a:r>
            <a:endParaRPr lang="en-US" sz="1250" dirty="0"/>
          </a:p>
          <a:p>
            <a:pPr algn="l"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touch targets; typing always available</a:t>
            </a:r>
            <a:endParaRPr lang="en-US" sz="1250" dirty="0"/>
          </a:p>
          <a:p>
            <a:pPr algn="l"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elderly &amp; low-literacy users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8952" y="5029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FA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by design.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5968" y="1188720"/>
            <a:ext cx="3474720" cy="4370832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17136" y="1426464"/>
            <a:ext cx="548640" cy="548640"/>
          </a:xfrm>
          <a:prstGeom prst="ellipse">
            <a:avLst/>
          </a:prstGeom>
          <a:solidFill>
            <a:srgbClr val="1C53A8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17136" y="1426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84648" y="14173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Manufacturability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184648" y="17830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to build, deploy &amp; maintain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0" y="2286000"/>
            <a:ext cx="2999232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— no GPU required</a:t>
            </a:r>
            <a:endParaRPr lang="en-US" sz="1250" dirty="0"/>
          </a:p>
          <a:p>
            <a:pPr algn="l"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open-source tools throughout</a:t>
            </a:r>
            <a:endParaRPr lang="en-US" sz="1250" dirty="0"/>
          </a:p>
          <a:p>
            <a:pPr algn="l"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SQLite → one-line swap to Postgres</a:t>
            </a:r>
            <a:endParaRPr lang="en-US" sz="1250" dirty="0"/>
          </a:p>
          <a:p>
            <a:pPr algn="l"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requirements.txt; Windows &amp; Linux</a:t>
            </a:r>
            <a:endParaRPr lang="en-US" sz="1250" dirty="0"/>
          </a:p>
          <a:p>
            <a:pPr algn="l"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clinic could realistically install it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0" y="5029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C5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on a shoestring.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9016" y="1188720"/>
            <a:ext cx="3474720" cy="4370832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30184" y="1426464"/>
            <a:ext cx="548640" cy="548640"/>
          </a:xfrm>
          <a:prstGeom prst="ellipse">
            <a:avLst/>
          </a:prstGeom>
          <a:solidFill>
            <a:srgbClr val="1794C6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30184" y="1426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97696" y="14173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997696" y="17830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useful &amp; maintainable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85048" y="2286000"/>
            <a:ext cx="2999232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— one small service per module</a:t>
            </a:r>
            <a:endParaRPr lang="en-US" sz="1250" dirty="0"/>
          </a:p>
          <a:p>
            <a:pPr algn="l"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database migrations</a:t>
            </a:r>
            <a:endParaRPr lang="en-US" sz="1250" dirty="0"/>
          </a:p>
          <a:p>
            <a:pPr algn="l"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~1,196 automated tests guard every rule</a:t>
            </a:r>
            <a:endParaRPr lang="en-US" sz="1250" dirty="0"/>
          </a:p>
          <a:p>
            <a:pPr algn="l"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AI failover for uptime</a:t>
            </a:r>
            <a:endParaRPr lang="en-US" sz="1250" dirty="0"/>
          </a:p>
          <a:p>
            <a:pPr algn="l"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Standards-based FHIR — portable, not a silo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85048" y="5029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79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last and evolve.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“Manufacturability” for a software system = how practically it can be built, deployed and maintained on real clinic hardware.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Patient Side (Voice-First Kiosk)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8348" y="1229868"/>
            <a:ext cx="4992624" cy="2427317"/>
          </a:xfrm>
          <a:prstGeom prst="roundRect">
            <a:avLst>
              <a:gd name="adj" fmla="val 1884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4B">
                <a:alpha val="16000"/>
              </a:srgbClr>
            </a:outerShdw>
          </a:effectLst>
        </p:spPr>
      </p:sp>
      <p:pic>
        <p:nvPicPr>
          <p:cNvPr id="4" name="Image 0" descr="/home/claude/niramoy/img/patient_convers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4892040" cy="23267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625181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conversation — spoken follow-up questions, answered by voice in Bangla.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756148" y="1275588"/>
            <a:ext cx="2066544" cy="3396328"/>
          </a:xfrm>
          <a:prstGeom prst="roundRect">
            <a:avLst>
              <a:gd name="adj" fmla="val 2212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4B">
                <a:alpha val="16000"/>
              </a:srgbClr>
            </a:outerShdw>
          </a:effectLst>
        </p:spPr>
      </p:sp>
      <p:pic>
        <p:nvPicPr>
          <p:cNvPr id="7" name="Image 1" descr="/home/claude/niramoy/img/patient_summary_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25880"/>
            <a:ext cx="1965960" cy="3295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32120" y="464905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screen — the 10 captured fields, confirmed before submit.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8183880" y="128016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patient’s journey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366760" y="1874520"/>
            <a:ext cx="365760" cy="365760"/>
          </a:xfrm>
          <a:prstGeom prst="ellipse">
            <a:avLst/>
          </a:prstGeom>
          <a:solidFill>
            <a:srgbClr val="0FA47F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36676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851392" y="1828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a phone number + one-time code (OTP)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366760" y="2532888"/>
            <a:ext cx="365760" cy="365760"/>
          </a:xfrm>
          <a:prstGeom prst="ellipse">
            <a:avLst/>
          </a:prstGeom>
          <a:solidFill>
            <a:srgbClr val="0FA47F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36676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851392" y="248716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asks — spoken aloud &amp; shown; the mic opens itself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366760" y="3191256"/>
            <a:ext cx="365760" cy="365760"/>
          </a:xfrm>
          <a:prstGeom prst="ellipse">
            <a:avLst/>
          </a:prstGeom>
          <a:solidFill>
            <a:srgbClr val="0FA47F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366760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851392" y="314553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speaks; the answer is read back (“You said…”) to catch mishearings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366760" y="3849624"/>
            <a:ext cx="365760" cy="365760"/>
          </a:xfrm>
          <a:prstGeom prst="ellipse">
            <a:avLst/>
          </a:prstGeom>
          <a:solidFill>
            <a:srgbClr val="0FA47F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836676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8851392" y="3803904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follow-up questions fill the gaps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366760" y="4507992"/>
            <a:ext cx="365760" cy="365760"/>
          </a:xfrm>
          <a:prstGeom prst="ellipse">
            <a:avLst/>
          </a:prstGeom>
          <a:solidFill>
            <a:srgbClr val="0FA47F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8366760" y="4507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8851392" y="446227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10-field summary → Confirm &amp; Submit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48640" y="5989320"/>
            <a:ext cx="2651760" cy="384048"/>
          </a:xfrm>
          <a:prstGeom prst="roundRect">
            <a:avLst>
              <a:gd name="adj" fmla="val 47619"/>
            </a:avLst>
          </a:prstGeom>
          <a:solidFill>
            <a:srgbClr val="E7F5F0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48640" y="59893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7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 EN / বাংলা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3337560" y="5989320"/>
            <a:ext cx="3200400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337560" y="5989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fallback (same backend path)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675120" y="5989320"/>
            <a:ext cx="2743200" cy="384048"/>
          </a:xfrm>
          <a:prstGeom prst="roundRect">
            <a:avLst>
              <a:gd name="adj" fmla="val 47619"/>
            </a:avLst>
          </a:prstGeom>
          <a:solidFill>
            <a:srgbClr val="FBF1E0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675120" y="5989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words preserved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Backend, Staff &amp; Doctor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8348" y="1138428"/>
            <a:ext cx="5221224" cy="2564976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4B">
                <a:alpha val="16000"/>
              </a:srgbClr>
            </a:outerShdw>
          </a:effectLst>
        </p:spPr>
      </p:sp>
      <p:pic>
        <p:nvPicPr>
          <p:cNvPr id="4" name="Image 0" descr="/home/claude/niramoy/img/medic_triage_que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120640" cy="24643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680544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 portal — verify AI fields against the patient’s raw words, record vitals, forward.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716268" y="1138428"/>
            <a:ext cx="4992624" cy="2417056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4B">
                <a:alpha val="16000"/>
              </a:srgbClr>
            </a:outerShdw>
          </a:effectLst>
        </p:spPr>
      </p:sp>
      <p:pic>
        <p:nvPicPr>
          <p:cNvPr id="7" name="Image 1" descr="/home/claude/niramoy/img/doctor_safety_x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88720"/>
            <a:ext cx="4892040" cy="2316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66560" y="3532624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portal — safety first (risk, red flags, explanation), history, prescribe, export FHIR / PDF.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48640" y="4133088"/>
            <a:ext cx="1115568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22960" y="4242816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speech becomes structured information</a:t>
            </a:r>
            <a:pPr algn="l" indent="0" marL="0">
              <a:buNone/>
            </a:pPr>
            <a:r>
              <a:rPr lang="en-US" sz="1150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FastAPI + SQLite (18 tables, one “visit” record)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22376" y="4645152"/>
            <a:ext cx="2468880" cy="402336"/>
          </a:xfrm>
          <a:prstGeom prst="roundRect">
            <a:avLst>
              <a:gd name="adj" fmla="val 45455"/>
            </a:avLst>
          </a:prstGeom>
          <a:solidFill>
            <a:srgbClr val="E7F5F0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22376" y="464515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191256" y="464515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502152" y="4645152"/>
            <a:ext cx="2468880" cy="402336"/>
          </a:xfrm>
          <a:prstGeom prst="roundRect">
            <a:avLst>
              <a:gd name="adj" fmla="val 45455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502152" y="464515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(10 fields)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971032" y="464515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81928" y="4645152"/>
            <a:ext cx="2468880" cy="402336"/>
          </a:xfrm>
          <a:prstGeom prst="roundRect">
            <a:avLst>
              <a:gd name="adj" fmla="val 45455"/>
            </a:avLst>
          </a:prstGeom>
          <a:solidFill>
            <a:srgbClr val="E7F5F0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81928" y="464515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8750808" y="464515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9061704" y="4645152"/>
            <a:ext cx="2468880" cy="402336"/>
          </a:xfrm>
          <a:prstGeom prst="roundRect">
            <a:avLst>
              <a:gd name="adj" fmla="val 45455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061704" y="464515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722376" y="5175504"/>
            <a:ext cx="2468880" cy="402336"/>
          </a:xfrm>
          <a:prstGeom prst="roundRect">
            <a:avLst>
              <a:gd name="adj" fmla="val 45455"/>
            </a:avLst>
          </a:prstGeom>
          <a:solidFill>
            <a:srgbClr val="E7F5F0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22376" y="517550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loop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191256" y="5175504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3502152" y="5175504"/>
            <a:ext cx="2468880" cy="402336"/>
          </a:xfrm>
          <a:prstGeom prst="roundRect">
            <a:avLst>
              <a:gd name="adj" fmla="val 45455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502152" y="517550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+ red-flag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971032" y="5175504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281928" y="5175504"/>
            <a:ext cx="2468880" cy="402336"/>
          </a:xfrm>
          <a:prstGeom prst="roundRect">
            <a:avLst>
              <a:gd name="adj" fmla="val 45455"/>
            </a:avLst>
          </a:prstGeom>
          <a:solidFill>
            <a:srgbClr val="E7F5F0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281928" y="517550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8750808" y="5175504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9061704" y="5175504"/>
            <a:ext cx="2468880" cy="402336"/>
          </a:xfrm>
          <a:prstGeom prst="roundRect">
            <a:avLst>
              <a:gd name="adj" fmla="val 45455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061704" y="517550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822960" y="5760720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trail:  </a:t>
            </a:r>
            <a:pPr algn="l" indent="0" marL="0">
              <a:buNone/>
            </a:pPr>
            <a:r>
              <a:rPr lang="en-US" sz="110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raw utterance (immutable) → 10-field profile → risk + explanation → report → doctor review → FHIR / PDF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822960" y="610819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types the diagnosis; the AI never fills it and it is excluded from the exported record.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Process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track — measure first, then design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69848" y="1847088"/>
            <a:ext cx="603504" cy="603504"/>
          </a:xfrm>
          <a:prstGeom prst="ellipse">
            <a:avLst/>
          </a:prstGeom>
          <a:solidFill>
            <a:srgbClr val="0FA47F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9848" y="1847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0040" y="2532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audio</a:t>
            </a:r>
            <a:endParaRPr lang="en-US" sz="11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h · multi-dialect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673352" y="1837944"/>
            <a:ext cx="18196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93008" y="1847088"/>
            <a:ext cx="603504" cy="603504"/>
          </a:xfrm>
          <a:prstGeom prst="ellipse">
            <a:avLst/>
          </a:prstGeom>
          <a:solidFill>
            <a:srgbClr val="0FA47F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93008" y="1847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743200" y="2532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ASR</a:t>
            </a:r>
            <a:endParaRPr lang="en-US" sz="11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models benchmarked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96512" y="1837944"/>
            <a:ext cx="18196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916168" y="1847088"/>
            <a:ext cx="603504" cy="603504"/>
          </a:xfrm>
          <a:prstGeom prst="ellipse">
            <a:avLst/>
          </a:prstGeom>
          <a:solidFill>
            <a:srgbClr val="0FA47F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16168" y="1847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166360" y="2532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models</a:t>
            </a:r>
            <a:endParaRPr lang="en-US" sz="11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&gt;1B params tested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19672" y="1837944"/>
            <a:ext cx="18196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339328" y="1847088"/>
            <a:ext cx="603504" cy="603504"/>
          </a:xfrm>
          <a:prstGeom prst="ellipse">
            <a:avLst/>
          </a:prstGeom>
          <a:solidFill>
            <a:srgbClr val="B7791F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39328" y="1847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589520" y="2532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 fine-tuning</a:t>
            </a:r>
            <a:endParaRPr lang="en-US" sz="11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(CSE499B)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42832" y="1837944"/>
            <a:ext cx="18196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0762488" y="1847088"/>
            <a:ext cx="603504" cy="603504"/>
          </a:xfrm>
          <a:prstGeom prst="ellipse">
            <a:avLst/>
          </a:prstGeom>
          <a:solidFill>
            <a:srgbClr val="B7791F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762488" y="1847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012680" y="2532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study</a:t>
            </a:r>
            <a:endParaRPr lang="en-US" sz="11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29992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4–5 are planned / upcoming — shown honestly, not claimed as done.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429000"/>
            <a:ext cx="644652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35661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track — small services, test-guarded, iterative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68680" y="4114800"/>
            <a:ext cx="1100938" cy="384048"/>
          </a:xfrm>
          <a:prstGeom prst="roundRect">
            <a:avLst>
              <a:gd name="adj" fmla="val 47619"/>
            </a:avLst>
          </a:prstGeom>
          <a:solidFill>
            <a:srgbClr val="E7F5F0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114800"/>
            <a:ext cx="110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service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969618" y="411480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152498" y="4114800"/>
            <a:ext cx="640080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52498" y="41148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92578" y="411480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75458" y="4114800"/>
            <a:ext cx="1232611" cy="384048"/>
          </a:xfrm>
          <a:prstGeom prst="roundRect">
            <a:avLst>
              <a:gd name="adj" fmla="val 47619"/>
            </a:avLst>
          </a:prstGeom>
          <a:solidFill>
            <a:srgbClr val="E7F5F0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5458" y="4114800"/>
            <a:ext cx="12326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each rule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08069" y="411480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90949" y="4114800"/>
            <a:ext cx="705917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90949" y="4114800"/>
            <a:ext cx="7059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96866" y="411480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279746" y="4114800"/>
            <a:ext cx="771754" cy="384048"/>
          </a:xfrm>
          <a:prstGeom prst="roundRect">
            <a:avLst>
              <a:gd name="adj" fmla="val 47619"/>
            </a:avLst>
          </a:prstGeom>
          <a:solidFill>
            <a:srgbClr val="E7F5F0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79746" y="4114800"/>
            <a:ext cx="7717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68680" y="475488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B7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~1,196 automated tests</a:t>
            </a:r>
            <a:endParaRPr lang="en-US" sz="12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safety rule is pinned by a test, so a change that breaks a rule fails the suite.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recorded as Architecture Decision Records (ADRs).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178040" y="3429000"/>
            <a:ext cx="452628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452360" y="3566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→ how we solved them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452360" y="4114800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is unreliable</a:t>
            </a:r>
            <a:endParaRPr lang="en-US" sz="12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B7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verify-and-fill conversational design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452360" y="4828032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AI limits</a:t>
            </a:r>
            <a:endParaRPr lang="en-US" sz="12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B7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multi-key / multi-provider failover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452360" y="5541264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PDF shaping</a:t>
            </a:r>
            <a:endParaRPr lang="en-US" sz="12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B7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fpdf2 + HarfBuzz (correct conjuncts)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Considerations &amp; Sustainability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704088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0664" y="1417320"/>
            <a:ext cx="457200" cy="457200"/>
          </a:xfrm>
          <a:prstGeom prst="ellipse">
            <a:avLst/>
          </a:prstGeom>
          <a:solidFill>
            <a:srgbClr val="0FA47F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0664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6080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Software-only   </a:t>
            </a:r>
            <a:pPr algn="l" indent="0" marL="0">
              <a:buNone/>
            </a:pPr>
            <a:r>
              <a:rPr lang="en-US" sz="120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manufacture — it runs on the clinic PCs &amp; tablets you already have.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704088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0664" y="2258568"/>
            <a:ext cx="457200" cy="457200"/>
          </a:xfrm>
          <a:prstGeom prst="ellipse">
            <a:avLst/>
          </a:prstGeom>
          <a:solidFill>
            <a:srgbClr val="0B7D60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0664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121408"/>
            <a:ext cx="6080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compute   </a:t>
            </a:r>
            <a:pPr algn="l" indent="0" marL="0">
              <a:buNone/>
            </a:pPr>
            <a:r>
              <a:rPr lang="en-US" sz="120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CPU-only, no GPU farm; free &amp; open-source tools throughout.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62656"/>
            <a:ext cx="704088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0664" y="3099816"/>
            <a:ext cx="457200" cy="457200"/>
          </a:xfrm>
          <a:prstGeom prst="ellipse">
            <a:avLst/>
          </a:prstGeom>
          <a:solidFill>
            <a:srgbClr val="1794C6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0664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962656"/>
            <a:ext cx="6080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intake   </a:t>
            </a:r>
            <a:pPr algn="l" indent="0" marL="0">
              <a:buNone/>
            </a:pPr>
            <a:r>
              <a:rPr lang="en-US" sz="120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digital records replace paper forms and manual re-copying.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03904"/>
            <a:ext cx="704088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0664" y="3941064"/>
            <a:ext cx="457200" cy="457200"/>
          </a:xfrm>
          <a:prstGeom prst="ellipse">
            <a:avLst/>
          </a:prstGeom>
          <a:solidFill>
            <a:srgbClr val="1C53A8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664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3803904"/>
            <a:ext cx="6080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records   </a:t>
            </a:r>
            <a:pPr algn="l" indent="0" marL="0">
              <a:buNone/>
            </a:pPr>
            <a:r>
              <a:rPr lang="en-US" sz="120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Standards-based FHIR outlives the app; modular, maintainable code.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645152"/>
            <a:ext cx="704088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0664" y="4782312"/>
            <a:ext cx="457200" cy="457200"/>
          </a:xfrm>
          <a:prstGeom prst="ellipse">
            <a:avLst/>
          </a:prstGeom>
          <a:solidFill>
            <a:srgbClr val="12306E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0664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645152"/>
            <a:ext cx="6080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greener ops   </a:t>
            </a:r>
            <a:pPr algn="l" indent="0" marL="0">
              <a:buNone/>
            </a:pPr>
            <a:r>
              <a:rPr lang="en-US" sz="120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STT / TTS is on the roadmap to cut cloud calls.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818120" y="1280160"/>
            <a:ext cx="3886200" cy="4133088"/>
          </a:xfrm>
          <a:prstGeom prst="roundRect">
            <a:avLst>
              <a:gd name="adj" fmla="val 2118"/>
            </a:avLst>
          </a:prstGeom>
          <a:solidFill>
            <a:srgbClr val="F4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73568" y="1444752"/>
            <a:ext cx="512064" cy="512064"/>
          </a:xfrm>
          <a:prstGeom prst="ellipse">
            <a:avLst/>
          </a:prstGeom>
          <a:solidFill>
            <a:srgbClr val="B7791F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73568" y="1444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613648" y="1463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honestly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0" y="2194560"/>
            <a:ext cx="3246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claim measured carbon savings.</a:t>
            </a:r>
            <a:endParaRPr lang="en-US" sz="125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speech &amp; AI still use energy today. The real efficiency path is the local, on-device models we’ve designed toward — that’s future work, stated as such.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durable “green” win is process: less paper, less re-entry, and records that don’t have to be rebuilt later.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0350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defensible sustainability claims only — no unsupported environmental numbers.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10058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is actually in the final build.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12306E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1848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04672" y="2258568"/>
            <a:ext cx="766267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258568"/>
            <a:ext cx="7662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98955" y="2258568"/>
            <a:ext cx="842162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8955" y="2258568"/>
            <a:ext cx="8421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69134" y="2258568"/>
            <a:ext cx="842162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69134" y="2258568"/>
            <a:ext cx="8421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15968" y="141732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645920"/>
            <a:ext cx="457200" cy="457200"/>
          </a:xfrm>
          <a:prstGeom prst="ellipse">
            <a:avLst/>
          </a:prstGeom>
          <a:solidFill>
            <a:srgbClr val="0FA47F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4456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38928" y="161848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/ Voice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572000" y="2258568"/>
            <a:ext cx="2435962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2258568"/>
            <a:ext cx="24359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(bn-BD) — STT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2734056"/>
            <a:ext cx="918058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734056"/>
            <a:ext cx="9180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18074" y="2734056"/>
            <a:ext cx="1221638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18074" y="2734056"/>
            <a:ext cx="12216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espeak — TTS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83296" y="141732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11896" y="1645920"/>
            <a:ext cx="457200" cy="457200"/>
          </a:xfrm>
          <a:prstGeom prst="ellipse">
            <a:avLst/>
          </a:prstGeom>
          <a:solidFill>
            <a:srgbClr val="1794C6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1189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06256" y="161848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8339328" y="2258568"/>
            <a:ext cx="2208276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9328" y="2258568"/>
            <a:ext cx="22082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/ Flash-Lite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675620" y="2258568"/>
            <a:ext cx="614477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75620" y="2258568"/>
            <a:ext cx="6144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339328" y="2734056"/>
            <a:ext cx="1904695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9328" y="2734056"/>
            <a:ext cx="1904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Cerebras / OpenRouter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339328" y="3209544"/>
            <a:ext cx="1677010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9328" y="3209544"/>
            <a:ext cx="16770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multi-key failover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3767328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77240" y="3995928"/>
            <a:ext cx="457200" cy="457200"/>
          </a:xfrm>
          <a:prstGeom prst="ellipse">
            <a:avLst/>
          </a:prstGeom>
          <a:solidFill>
            <a:srgbClr val="0B7D60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7724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371600" y="396849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Data &amp; Export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804672" y="4608576"/>
            <a:ext cx="766267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4608576"/>
            <a:ext cx="7662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698955" y="4608576"/>
            <a:ext cx="1069848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98955" y="4608576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896819" y="4608576"/>
            <a:ext cx="842162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96819" y="4608576"/>
            <a:ext cx="8421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04672" y="5084064"/>
            <a:ext cx="1145743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4672" y="5084064"/>
            <a:ext cx="11457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FHIR R4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078431" y="5084064"/>
            <a:ext cx="1525219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78431" y="5084064"/>
            <a:ext cx="15252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fpdf2 + HarfBuzz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04672" y="5559552"/>
            <a:ext cx="1145743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4672" y="5559552"/>
            <a:ext cx="11457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315968" y="3767328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544568" y="3995928"/>
            <a:ext cx="457200" cy="457200"/>
          </a:xfrm>
          <a:prstGeom prst="ellipse">
            <a:avLst/>
          </a:prstGeom>
          <a:solidFill>
            <a:srgbClr val="1C53A8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54456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138928" y="396849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50" dirty="0"/>
          </a:p>
        </p:txBody>
      </p:sp>
      <p:sp>
        <p:nvSpPr>
          <p:cNvPr id="56" name="Shape 54"/>
          <p:cNvSpPr/>
          <p:nvPr/>
        </p:nvSpPr>
        <p:spPr>
          <a:xfrm>
            <a:off x="4572000" y="4608576"/>
            <a:ext cx="614477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0" y="4608576"/>
            <a:ext cx="6144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314493" y="4608576"/>
            <a:ext cx="538582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14493" y="4608576"/>
            <a:ext cx="5385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981090" y="4608576"/>
            <a:ext cx="1069848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81090" y="4608576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572000" y="5084064"/>
            <a:ext cx="993953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0" y="5084064"/>
            <a:ext cx="9939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portals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8083296" y="3767328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8311896" y="3995928"/>
            <a:ext cx="457200" cy="457200"/>
          </a:xfrm>
          <a:prstGeom prst="ellipse">
            <a:avLst/>
          </a:prstGeom>
          <a:solidFill>
            <a:srgbClr val="B7791F"/>
          </a:solidFill>
          <a:ln/>
          <a:effectLst>
            <a:outerShdw sx="100000" sy="100000" kx="0" ky="0" algn="bl" rotWithShape="0" blurRad="63500" dist="12700" dir="5400000">
              <a:srgbClr val="0B1E4B">
                <a:alpha val="1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8311896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8906256" y="396849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/ Infra</a:t>
            </a:r>
            <a:endParaRPr lang="en-US" sz="1450" dirty="0"/>
          </a:p>
        </p:txBody>
      </p:sp>
      <p:sp>
        <p:nvSpPr>
          <p:cNvPr id="68" name="Shape 66"/>
          <p:cNvSpPr/>
          <p:nvPr/>
        </p:nvSpPr>
        <p:spPr>
          <a:xfrm>
            <a:off x="8339328" y="4608576"/>
            <a:ext cx="1904695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39328" y="4608576"/>
            <a:ext cx="1904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(~1,196 tests)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8339328" y="5084064"/>
            <a:ext cx="1221638" cy="384048"/>
          </a:xfrm>
          <a:prstGeom prst="roundRect">
            <a:avLst>
              <a:gd name="adj" fmla="val 47619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39328" y="5084064"/>
            <a:ext cx="12216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48640" y="60533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0B7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free / open-source · CPU-only · one codebase on Windows &amp; Linux.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Bangla Dialect ASR Benchmark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352044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07008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920240" y="1207008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15968" y="1170432"/>
            <a:ext cx="352044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53128" y="1207008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A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687568" y="1207008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WER (BengaliAI Regional)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83296" y="1170432"/>
            <a:ext cx="352044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0456" y="1207008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2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9454896" y="1207008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unusable (WER ≥ 100%)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6948" y="2436876"/>
            <a:ext cx="8421624" cy="3139573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4B">
                <a:alpha val="16000"/>
              </a:srgbClr>
            </a:outerShdw>
          </a:effectLst>
        </p:spPr>
      </p:sp>
      <p:pic>
        <p:nvPicPr>
          <p:cNvPr id="13" name="Image 0" descr="/home/claude/niramoy/img/stt_wer_po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87168"/>
            <a:ext cx="8321040" cy="3038989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326880" y="2377440"/>
            <a:ext cx="2377440" cy="3200400"/>
          </a:xfrm>
          <a:prstGeom prst="roundRect">
            <a:avLst>
              <a:gd name="adj" fmla="val 3462"/>
            </a:avLst>
          </a:prstGeom>
          <a:solidFill>
            <a:srgbClr val="F4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4B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509760" y="24871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509760" y="2852928"/>
            <a:ext cx="21031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open model still misses ~47% of words on dialect medical speech.</a:t>
            </a:r>
            <a:endParaRPr lang="en-US" sz="1100" dirty="0"/>
          </a:p>
          <a:p>
            <a:pPr algn="l"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&gt;1B models did not help — several hallucinate past 100% WER.</a:t>
            </a:r>
            <a:endParaRPr lang="en-US" sz="1100" dirty="0"/>
          </a:p>
          <a:p>
            <a:pPr algn="l"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dialect accuracy ≈ zero → this shaped the verify-and-fill design.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research benchmark of candidate open models — not the live browser STT the prototype uses.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371600"/>
            <a:ext cx="3291840" cy="3291840"/>
          </a:xfrm>
          <a:prstGeom prst="ellipse">
            <a:avLst/>
          </a:prstGeom>
          <a:solidFill>
            <a:srgbClr val="1230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Impact &amp; What’s Next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566160" cy="2724912"/>
          </a:xfrm>
          <a:prstGeom prst="roundRect">
            <a:avLst>
              <a:gd name="adj" fmla="val 3020"/>
            </a:avLst>
          </a:prstGeom>
          <a:solidFill>
            <a:srgbClr val="11294F"/>
          </a:solidFill>
          <a:ln w="12700">
            <a:solidFill>
              <a:srgbClr val="1E43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350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58952" y="1755648"/>
            <a:ext cx="315468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end-to-end prototype across 3 portals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~1,196 automated tests passing (safety rules pinned)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record → HL7 FHIR R4 + PDF + DOCX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Live-mic run judged “very accurate”, ~2 s (informal)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207008"/>
            <a:ext cx="3566160" cy="2724912"/>
          </a:xfrm>
          <a:prstGeom prst="roundRect">
            <a:avLst>
              <a:gd name="adj" fmla="val 3020"/>
            </a:avLst>
          </a:prstGeom>
          <a:solidFill>
            <a:srgbClr val="11294F"/>
          </a:solidFill>
          <a:ln w="12700">
            <a:solidFill>
              <a:srgbClr val="1E43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3350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3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53712" y="1755648"/>
            <a:ext cx="315468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elderly, low-literacy &amp; dialect speakers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complete intake before the consult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Interoperable, standards-based output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signs surfaced — never falsely reassured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92440" y="1207008"/>
            <a:ext cx="3566160" cy="2724912"/>
          </a:xfrm>
          <a:prstGeom prst="roundRect">
            <a:avLst>
              <a:gd name="adj" fmla="val 3020"/>
            </a:avLst>
          </a:prstGeom>
          <a:solidFill>
            <a:srgbClr val="11294F"/>
          </a:solidFill>
          <a:ln w="12700">
            <a:solidFill>
              <a:srgbClr val="1E43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3350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B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48472" y="1755648"/>
            <a:ext cx="315468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on-device STT (faster-whisper)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dialect fine-tuning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authentication &amp; encryption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Feedback-driven retraining; Postgres + clinic pilot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0690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B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limits:  </a:t>
            </a:r>
            <a:pPr algn="l"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STT today · auth/encryption prototype-stage · extraction accuracy not yet formally measured · synthetic data.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322308" y="3991356"/>
            <a:ext cx="2203704" cy="2211242"/>
          </a:xfrm>
          <a:prstGeom prst="roundRect">
            <a:avLst>
              <a:gd name="adj" fmla="val 2075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4B">
                <a:alpha val="16000"/>
              </a:srgbClr>
            </a:outerShdw>
          </a:effectLst>
        </p:spPr>
      </p:sp>
      <p:pic>
        <p:nvPicPr>
          <p:cNvPr id="15" name="Image 0" descr="/home/claude/niramoy/img/ehr_fhir_out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4041648"/>
            <a:ext cx="2103120" cy="211065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48640" y="4617720"/>
            <a:ext cx="8321040" cy="1170432"/>
          </a:xfrm>
          <a:prstGeom prst="roundRect">
            <a:avLst>
              <a:gd name="adj" fmla="val 7031"/>
            </a:avLst>
          </a:prstGeom>
          <a:solidFill>
            <a:srgbClr val="0E3B2E"/>
          </a:solidFill>
          <a:ln w="12700">
            <a:solidFill>
              <a:srgbClr val="1E6B5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4709160"/>
            <a:ext cx="78638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speaks Bangla; a doctor gets an explainable, standards-based record — </a:t>
            </a:r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7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words preserved, no machine diagnosis.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48640" y="6355080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Rafiur Rahman Mashrafi (2221971042)     M. G. Rabbi Hossen (2222516042)     Israt Zaman Srity (2211084042)</a:t>
            </a:r>
            <a:pPr algn="l" indent="0" marL="0">
              <a:buNone/>
            </a:pPr>
            <a:r>
              <a:rPr lang="en-US" sz="1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Advisor: Dr. Mohammad Ashrafuzzaman Khan (AzK), Associate Professor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2026-08-21T23:47:58Z</dcterms:created>
  <dcterms:modified xsi:type="dcterms:W3CDTF">2026-08-21T23:47:58Z</dcterms:modified>
</cp:coreProperties>
</file>